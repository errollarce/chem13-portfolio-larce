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5240000" cy="9525000"/>
  <p:notesSz cx="6858000" cy="9144000"/>
  <p:embeddedFontLst>
    <p:embeddedFont>
      <p:font typeface="Canva Sans Bold" charset="1" panose="020B0803030501040103"/>
      <p:regular r:id="rId16"/>
    </p:embeddedFont>
    <p:embeddedFont>
      <p:font typeface="League Spartan" charset="1" panose="00000800000000000000"/>
      <p:regular r:id="rId17"/>
    </p:embeddedFont>
    <p:embeddedFont>
      <p:font typeface="Canva Sans" charset="1" panose="020B0503030501040103"/>
      <p:regular r:id="rId18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3.png" Type="http://schemas.openxmlformats.org/officeDocument/2006/relationships/image"/><Relationship Id="rId5" Target="../media/image4.sv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5.png" Type="http://schemas.openxmlformats.org/officeDocument/2006/relationships/image"/><Relationship Id="rId5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7.png" Type="http://schemas.openxmlformats.org/officeDocument/2006/relationships/image"/><Relationship Id="rId5" Target="../media/image8.sv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9.png" Type="http://schemas.openxmlformats.org/officeDocument/2006/relationships/image"/><Relationship Id="rId5" Target="../media/image10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1.png" Type="http://schemas.openxmlformats.org/officeDocument/2006/relationships/image"/><Relationship Id="rId5" Target="../media/image12.sv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3.png" Type="http://schemas.openxmlformats.org/officeDocument/2006/relationships/image"/><Relationship Id="rId5" Target="../media/image14.sv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5.png" Type="http://schemas.openxmlformats.org/officeDocument/2006/relationships/image"/><Relationship Id="rId5" Target="../media/image16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7.png" Type="http://schemas.openxmlformats.org/officeDocument/2006/relationships/image"/><Relationship Id="rId5" Target="../media/image18.sv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19.png" Type="http://schemas.openxmlformats.org/officeDocument/2006/relationships/image"/><Relationship Id="rId5" Target="../media/image20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Relationship Id="rId3" Target="../media/image2.svg" Type="http://schemas.openxmlformats.org/officeDocument/2006/relationships/image"/><Relationship Id="rId4" Target="../media/image21.png" Type="http://schemas.openxmlformats.org/officeDocument/2006/relationships/image"/><Relationship Id="rId5" Target="../media/image22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1878" y="234679"/>
            <a:ext cx="17971628" cy="1028690"/>
            <a:chOff x="0" y="0"/>
            <a:chExt cx="3993695" cy="2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3695" cy="228598"/>
            </a:xfrm>
            <a:custGeom>
              <a:avLst/>
              <a:gdLst/>
              <a:ahLst/>
              <a:cxnLst/>
              <a:rect r="r" b="b" t="t" l="l"/>
              <a:pathLst>
                <a:path h="228598" w="3993695">
                  <a:moveTo>
                    <a:pt x="7741" y="0"/>
                  </a:moveTo>
                  <a:lnTo>
                    <a:pt x="3985955" y="0"/>
                  </a:lnTo>
                  <a:cubicBezTo>
                    <a:pt x="3990230" y="0"/>
                    <a:pt x="3993695" y="3466"/>
                    <a:pt x="3993695" y="7741"/>
                  </a:cubicBezTo>
                  <a:lnTo>
                    <a:pt x="3993695" y="220857"/>
                  </a:lnTo>
                  <a:cubicBezTo>
                    <a:pt x="3993695" y="222910"/>
                    <a:pt x="3992880" y="224879"/>
                    <a:pt x="3991428" y="226331"/>
                  </a:cubicBezTo>
                  <a:cubicBezTo>
                    <a:pt x="3989977" y="227782"/>
                    <a:pt x="3988008" y="228598"/>
                    <a:pt x="3985955" y="228598"/>
                  </a:cubicBezTo>
                  <a:lnTo>
                    <a:pt x="7741" y="228598"/>
                  </a:lnTo>
                  <a:cubicBezTo>
                    <a:pt x="3466" y="228598"/>
                    <a:pt x="0" y="225132"/>
                    <a:pt x="0" y="220857"/>
                  </a:cubicBezTo>
                  <a:lnTo>
                    <a:pt x="0" y="7741"/>
                  </a:lnTo>
                  <a:cubicBezTo>
                    <a:pt x="0" y="3466"/>
                    <a:pt x="3466" y="0"/>
                    <a:pt x="7741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93695" cy="257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013" y="1434603"/>
            <a:ext cx="6989574" cy="3350992"/>
            <a:chOff x="0" y="0"/>
            <a:chExt cx="1553239" cy="744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239" cy="744665"/>
            </a:xfrm>
            <a:custGeom>
              <a:avLst/>
              <a:gdLst/>
              <a:ahLst/>
              <a:cxnLst/>
              <a:rect r="r" b="b" t="t" l="l"/>
              <a:pathLst>
                <a:path h="7446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724762"/>
                  </a:lnTo>
                  <a:cubicBezTo>
                    <a:pt x="1553239" y="730041"/>
                    <a:pt x="1551142" y="735103"/>
                    <a:pt x="1547409" y="738836"/>
                  </a:cubicBezTo>
                  <a:cubicBezTo>
                    <a:pt x="1543677" y="742568"/>
                    <a:pt x="1538614" y="744665"/>
                    <a:pt x="1533336" y="744665"/>
                  </a:cubicBezTo>
                  <a:lnTo>
                    <a:pt x="19903" y="744665"/>
                  </a:lnTo>
                  <a:cubicBezTo>
                    <a:pt x="14624" y="744665"/>
                    <a:pt x="9562" y="742568"/>
                    <a:pt x="5829" y="738836"/>
                  </a:cubicBezTo>
                  <a:cubicBezTo>
                    <a:pt x="2097" y="735103"/>
                    <a:pt x="0" y="730041"/>
                    <a:pt x="0" y="7247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53239" cy="77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85348" y="1434603"/>
            <a:ext cx="6946726" cy="3327897"/>
            <a:chOff x="0" y="0"/>
            <a:chExt cx="1543717" cy="739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3717" cy="739533"/>
            </a:xfrm>
            <a:custGeom>
              <a:avLst/>
              <a:gdLst/>
              <a:ahLst/>
              <a:cxnLst/>
              <a:rect r="r" b="b" t="t" l="l"/>
              <a:pathLst>
                <a:path h="739533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719507"/>
                  </a:lnTo>
                  <a:cubicBezTo>
                    <a:pt x="1543717" y="724818"/>
                    <a:pt x="1541607" y="729912"/>
                    <a:pt x="1537852" y="733667"/>
                  </a:cubicBezTo>
                  <a:cubicBezTo>
                    <a:pt x="1534096" y="737423"/>
                    <a:pt x="1529002" y="739533"/>
                    <a:pt x="1523691" y="739533"/>
                  </a:cubicBezTo>
                  <a:lnTo>
                    <a:pt x="20026" y="739533"/>
                  </a:lnTo>
                  <a:cubicBezTo>
                    <a:pt x="14715" y="739533"/>
                    <a:pt x="9621" y="737423"/>
                    <a:pt x="5865" y="733667"/>
                  </a:cubicBezTo>
                  <a:cubicBezTo>
                    <a:pt x="2110" y="729912"/>
                    <a:pt x="0" y="724818"/>
                    <a:pt x="0" y="719507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43717" cy="76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538" y="4924425"/>
            <a:ext cx="6989574" cy="3735744"/>
            <a:chOff x="0" y="0"/>
            <a:chExt cx="1553239" cy="8301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3239" cy="830165"/>
            </a:xfrm>
            <a:custGeom>
              <a:avLst/>
              <a:gdLst/>
              <a:ahLst/>
              <a:cxnLst/>
              <a:rect r="r" b="b" t="t" l="l"/>
              <a:pathLst>
                <a:path h="8301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810262"/>
                  </a:lnTo>
                  <a:cubicBezTo>
                    <a:pt x="1553239" y="815541"/>
                    <a:pt x="1551142" y="820603"/>
                    <a:pt x="1547409" y="824336"/>
                  </a:cubicBezTo>
                  <a:cubicBezTo>
                    <a:pt x="1543677" y="828068"/>
                    <a:pt x="1538614" y="830165"/>
                    <a:pt x="1533336" y="830165"/>
                  </a:cubicBezTo>
                  <a:lnTo>
                    <a:pt x="19903" y="830165"/>
                  </a:lnTo>
                  <a:cubicBezTo>
                    <a:pt x="14624" y="830165"/>
                    <a:pt x="9562" y="828068"/>
                    <a:pt x="5829" y="824336"/>
                  </a:cubicBezTo>
                  <a:cubicBezTo>
                    <a:pt x="2097" y="820603"/>
                    <a:pt x="0" y="815541"/>
                    <a:pt x="0" y="8102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553239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5348" y="4924425"/>
            <a:ext cx="6946726" cy="3735744"/>
            <a:chOff x="0" y="0"/>
            <a:chExt cx="1543717" cy="8301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3717" cy="830165"/>
            </a:xfrm>
            <a:custGeom>
              <a:avLst/>
              <a:gdLst/>
              <a:ahLst/>
              <a:cxnLst/>
              <a:rect r="r" b="b" t="t" l="l"/>
              <a:pathLst>
                <a:path h="830165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810140"/>
                  </a:lnTo>
                  <a:cubicBezTo>
                    <a:pt x="1543717" y="815451"/>
                    <a:pt x="1541607" y="820544"/>
                    <a:pt x="1537852" y="824300"/>
                  </a:cubicBezTo>
                  <a:cubicBezTo>
                    <a:pt x="1534096" y="828055"/>
                    <a:pt x="1529002" y="830165"/>
                    <a:pt x="1523691" y="830165"/>
                  </a:cubicBezTo>
                  <a:lnTo>
                    <a:pt x="20026" y="830165"/>
                  </a:lnTo>
                  <a:cubicBezTo>
                    <a:pt x="14715" y="830165"/>
                    <a:pt x="9621" y="828055"/>
                    <a:pt x="5865" y="824300"/>
                  </a:cubicBezTo>
                  <a:cubicBezTo>
                    <a:pt x="2110" y="820544"/>
                    <a:pt x="0" y="815451"/>
                    <a:pt x="0" y="810140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543717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6997" y="234679"/>
            <a:ext cx="1035877" cy="1035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0598" y="8930914"/>
            <a:ext cx="15750465" cy="817377"/>
            <a:chOff x="0" y="0"/>
            <a:chExt cx="3500103" cy="1816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0103" cy="181639"/>
            </a:xfrm>
            <a:custGeom>
              <a:avLst/>
              <a:gdLst/>
              <a:ahLst/>
              <a:cxnLst/>
              <a:rect r="r" b="b" t="t" l="l"/>
              <a:pathLst>
                <a:path h="181639" w="3500103">
                  <a:moveTo>
                    <a:pt x="8832" y="0"/>
                  </a:moveTo>
                  <a:lnTo>
                    <a:pt x="3491271" y="0"/>
                  </a:lnTo>
                  <a:cubicBezTo>
                    <a:pt x="3493613" y="0"/>
                    <a:pt x="3495860" y="931"/>
                    <a:pt x="3497516" y="2587"/>
                  </a:cubicBezTo>
                  <a:cubicBezTo>
                    <a:pt x="3499173" y="4243"/>
                    <a:pt x="3500103" y="6490"/>
                    <a:pt x="3500103" y="8832"/>
                  </a:cubicBezTo>
                  <a:lnTo>
                    <a:pt x="3500103" y="172807"/>
                  </a:lnTo>
                  <a:cubicBezTo>
                    <a:pt x="3500103" y="177685"/>
                    <a:pt x="3496149" y="181639"/>
                    <a:pt x="3491271" y="181639"/>
                  </a:cubicBezTo>
                  <a:lnTo>
                    <a:pt x="8832" y="181639"/>
                  </a:lnTo>
                  <a:cubicBezTo>
                    <a:pt x="3954" y="181639"/>
                    <a:pt x="0" y="177685"/>
                    <a:pt x="0" y="172807"/>
                  </a:cubicBezTo>
                  <a:lnTo>
                    <a:pt x="0" y="8832"/>
                  </a:lnTo>
                  <a:cubicBezTo>
                    <a:pt x="0" y="3954"/>
                    <a:pt x="3954" y="0"/>
                    <a:pt x="8832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500103" cy="21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010" y="9133992"/>
            <a:ext cx="173360" cy="186561"/>
            <a:chOff x="0" y="0"/>
            <a:chExt cx="49311" cy="530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2280" y="9133992"/>
            <a:ext cx="173360" cy="186561"/>
            <a:chOff x="0" y="0"/>
            <a:chExt cx="49311" cy="53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49638" y="9124085"/>
            <a:ext cx="173360" cy="186561"/>
            <a:chOff x="0" y="0"/>
            <a:chExt cx="49311" cy="530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01466" y="9133992"/>
            <a:ext cx="173360" cy="186561"/>
            <a:chOff x="0" y="0"/>
            <a:chExt cx="49311" cy="530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570258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4792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9819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824604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9098196" y="2039160"/>
            <a:ext cx="4941404" cy="2211318"/>
            <a:chOff x="0" y="0"/>
            <a:chExt cx="6588538" cy="2948424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2815513" y="-38100"/>
              <a:ext cx="865551" cy="495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0" y="1227504"/>
              <a:ext cx="865551" cy="495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42" id="42"/>
            <p:cNvSpPr txBox="true"/>
            <p:nvPr/>
          </p:nvSpPr>
          <p:spPr>
            <a:xfrm rot="0">
              <a:off x="4278190" y="2428008"/>
              <a:ext cx="865551" cy="495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5722988" y="1145964"/>
              <a:ext cx="865551" cy="495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44" id="44"/>
            <p:cNvSpPr/>
            <p:nvPr/>
          </p:nvSpPr>
          <p:spPr>
            <a:xfrm flipV="true">
              <a:off x="1760212" y="456916"/>
              <a:ext cx="25400" cy="72714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V="true">
              <a:off x="1785612" y="1669226"/>
              <a:ext cx="0" cy="796881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6" id="46"/>
            <p:cNvSpPr/>
            <p:nvPr/>
          </p:nvSpPr>
          <p:spPr>
            <a:xfrm flipV="true">
              <a:off x="3248289" y="1656378"/>
              <a:ext cx="0" cy="80973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 flipV="true">
              <a:off x="3248289" y="456916"/>
              <a:ext cx="40391" cy="67801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V="true">
              <a:off x="4710965" y="1669226"/>
              <a:ext cx="0" cy="80973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V="true">
              <a:off x="4666153" y="456916"/>
              <a:ext cx="44812" cy="845018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0" id="50"/>
            <p:cNvSpPr/>
            <p:nvPr/>
          </p:nvSpPr>
          <p:spPr>
            <a:xfrm flipH="true">
              <a:off x="5092940" y="1427919"/>
              <a:ext cx="809730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1" id="51"/>
            <p:cNvSpPr txBox="true"/>
            <p:nvPr/>
          </p:nvSpPr>
          <p:spPr>
            <a:xfrm rot="0">
              <a:off x="4278190" y="1174210"/>
              <a:ext cx="865551" cy="495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803039" y="1174210"/>
              <a:ext cx="865551" cy="495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53" id="53"/>
            <p:cNvSpPr txBox="true"/>
            <p:nvPr/>
          </p:nvSpPr>
          <p:spPr>
            <a:xfrm rot="0">
              <a:off x="1352837" y="1186910"/>
              <a:ext cx="865551" cy="495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4" id="54"/>
            <p:cNvSpPr/>
            <p:nvPr/>
          </p:nvSpPr>
          <p:spPr>
            <a:xfrm flipH="true">
              <a:off x="3579050" y="1440768"/>
              <a:ext cx="809730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flipH="true">
              <a:off x="2167005" y="1453468"/>
              <a:ext cx="809730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6" id="56"/>
            <p:cNvSpPr/>
            <p:nvPr/>
          </p:nvSpPr>
          <p:spPr>
            <a:xfrm flipH="true">
              <a:off x="725141" y="1478868"/>
              <a:ext cx="809730" cy="0"/>
            </a:xfrm>
            <a:prstGeom prst="line">
              <a:avLst/>
            </a:prstGeom>
            <a:ln cap="flat" w="508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7" id="57"/>
            <p:cNvSpPr txBox="true"/>
            <p:nvPr/>
          </p:nvSpPr>
          <p:spPr>
            <a:xfrm rot="0">
              <a:off x="1352837" y="-38100"/>
              <a:ext cx="865551" cy="495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0">
              <a:off x="4278190" y="-38100"/>
              <a:ext cx="865551" cy="495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1327437" y="2453408"/>
              <a:ext cx="865551" cy="495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0" id="60"/>
            <p:cNvSpPr txBox="true"/>
            <p:nvPr/>
          </p:nvSpPr>
          <p:spPr>
            <a:xfrm rot="0">
              <a:off x="2815513" y="2453408"/>
              <a:ext cx="865551" cy="4950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161"/>
                </a:lnSpc>
              </a:pPr>
              <a:r>
                <a:rPr lang="en-US" sz="2258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</p:grpSp>
      <p:sp>
        <p:nvSpPr>
          <p:cNvPr name="Freeform 61" id="61"/>
          <p:cNvSpPr/>
          <p:nvPr/>
        </p:nvSpPr>
        <p:spPr>
          <a:xfrm flipH="false" flipV="false" rot="0">
            <a:off x="9585473" y="6245225"/>
            <a:ext cx="3603625" cy="1297305"/>
          </a:xfrm>
          <a:custGeom>
            <a:avLst/>
            <a:gdLst/>
            <a:ahLst/>
            <a:cxnLst/>
            <a:rect r="r" b="b" t="t" l="l"/>
            <a:pathLst>
              <a:path h="1297305" w="3603625">
                <a:moveTo>
                  <a:pt x="0" y="0"/>
                </a:moveTo>
                <a:lnTo>
                  <a:pt x="3603625" y="0"/>
                </a:lnTo>
                <a:lnTo>
                  <a:pt x="3603625" y="1297305"/>
                </a:lnTo>
                <a:lnTo>
                  <a:pt x="0" y="129730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62" id="62"/>
          <p:cNvSpPr txBox="true"/>
          <p:nvPr/>
        </p:nvSpPr>
        <p:spPr>
          <a:xfrm rot="0">
            <a:off x="6300252" y="359870"/>
            <a:ext cx="2639497" cy="79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Propane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2500678" y="1582383"/>
            <a:ext cx="29192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0242440" y="1591908"/>
            <a:ext cx="2232541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2247789" y="5080000"/>
            <a:ext cx="342507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 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940855" y="5105400"/>
            <a:ext cx="28357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 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588328" y="2766536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C₃H₈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588328" y="6346128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CH₃CH₂CH₃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0" y="9018928"/>
            <a:ext cx="31898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VERIFICATION STRIP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3867039" y="9075443"/>
            <a:ext cx="194869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Atom count verified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6795273" y="9070998"/>
            <a:ext cx="163651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Valence checked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430374" y="9075443"/>
            <a:ext cx="19759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Bond order checked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2142275" y="9070998"/>
            <a:ext cx="2880598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Same connectivity confirmed</a:t>
            </a:r>
          </a:p>
        </p:txBody>
      </p:sp>
      <p:sp>
        <p:nvSpPr>
          <p:cNvPr name="TextBox 74" id="74"/>
          <p:cNvSpPr txBox="true"/>
          <p:nvPr/>
        </p:nvSpPr>
        <p:spPr>
          <a:xfrm rot="0">
            <a:off x="10317628" y="4260216"/>
            <a:ext cx="2177415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No lone pairs required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1878" y="234679"/>
            <a:ext cx="17971628" cy="1028690"/>
            <a:chOff x="0" y="0"/>
            <a:chExt cx="3993695" cy="2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3695" cy="228598"/>
            </a:xfrm>
            <a:custGeom>
              <a:avLst/>
              <a:gdLst/>
              <a:ahLst/>
              <a:cxnLst/>
              <a:rect r="r" b="b" t="t" l="l"/>
              <a:pathLst>
                <a:path h="228598" w="3993695">
                  <a:moveTo>
                    <a:pt x="7741" y="0"/>
                  </a:moveTo>
                  <a:lnTo>
                    <a:pt x="3985955" y="0"/>
                  </a:lnTo>
                  <a:cubicBezTo>
                    <a:pt x="3990230" y="0"/>
                    <a:pt x="3993695" y="3466"/>
                    <a:pt x="3993695" y="7741"/>
                  </a:cubicBezTo>
                  <a:lnTo>
                    <a:pt x="3993695" y="220857"/>
                  </a:lnTo>
                  <a:cubicBezTo>
                    <a:pt x="3993695" y="222910"/>
                    <a:pt x="3992880" y="224879"/>
                    <a:pt x="3991428" y="226331"/>
                  </a:cubicBezTo>
                  <a:cubicBezTo>
                    <a:pt x="3989977" y="227782"/>
                    <a:pt x="3988008" y="228598"/>
                    <a:pt x="3985955" y="228598"/>
                  </a:cubicBezTo>
                  <a:lnTo>
                    <a:pt x="7741" y="228598"/>
                  </a:lnTo>
                  <a:cubicBezTo>
                    <a:pt x="3466" y="228598"/>
                    <a:pt x="0" y="225132"/>
                    <a:pt x="0" y="220857"/>
                  </a:cubicBezTo>
                  <a:lnTo>
                    <a:pt x="0" y="7741"/>
                  </a:lnTo>
                  <a:cubicBezTo>
                    <a:pt x="0" y="3466"/>
                    <a:pt x="3466" y="0"/>
                    <a:pt x="7741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93695" cy="257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013" y="1434603"/>
            <a:ext cx="6989574" cy="3350992"/>
            <a:chOff x="0" y="0"/>
            <a:chExt cx="1553239" cy="744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239" cy="744665"/>
            </a:xfrm>
            <a:custGeom>
              <a:avLst/>
              <a:gdLst/>
              <a:ahLst/>
              <a:cxnLst/>
              <a:rect r="r" b="b" t="t" l="l"/>
              <a:pathLst>
                <a:path h="7446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724762"/>
                  </a:lnTo>
                  <a:cubicBezTo>
                    <a:pt x="1553239" y="730041"/>
                    <a:pt x="1551142" y="735103"/>
                    <a:pt x="1547409" y="738836"/>
                  </a:cubicBezTo>
                  <a:cubicBezTo>
                    <a:pt x="1543677" y="742568"/>
                    <a:pt x="1538614" y="744665"/>
                    <a:pt x="1533336" y="744665"/>
                  </a:cubicBezTo>
                  <a:lnTo>
                    <a:pt x="19903" y="744665"/>
                  </a:lnTo>
                  <a:cubicBezTo>
                    <a:pt x="14624" y="744665"/>
                    <a:pt x="9562" y="742568"/>
                    <a:pt x="5829" y="738836"/>
                  </a:cubicBezTo>
                  <a:cubicBezTo>
                    <a:pt x="2097" y="735103"/>
                    <a:pt x="0" y="730041"/>
                    <a:pt x="0" y="7247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53239" cy="77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85348" y="1434603"/>
            <a:ext cx="6946726" cy="3327897"/>
            <a:chOff x="0" y="0"/>
            <a:chExt cx="1543717" cy="739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3717" cy="739533"/>
            </a:xfrm>
            <a:custGeom>
              <a:avLst/>
              <a:gdLst/>
              <a:ahLst/>
              <a:cxnLst/>
              <a:rect r="r" b="b" t="t" l="l"/>
              <a:pathLst>
                <a:path h="739533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719507"/>
                  </a:lnTo>
                  <a:cubicBezTo>
                    <a:pt x="1543717" y="724818"/>
                    <a:pt x="1541607" y="729912"/>
                    <a:pt x="1537852" y="733667"/>
                  </a:cubicBezTo>
                  <a:cubicBezTo>
                    <a:pt x="1534096" y="737423"/>
                    <a:pt x="1529002" y="739533"/>
                    <a:pt x="1523691" y="739533"/>
                  </a:cubicBezTo>
                  <a:lnTo>
                    <a:pt x="20026" y="739533"/>
                  </a:lnTo>
                  <a:cubicBezTo>
                    <a:pt x="14715" y="739533"/>
                    <a:pt x="9621" y="737423"/>
                    <a:pt x="5865" y="733667"/>
                  </a:cubicBezTo>
                  <a:cubicBezTo>
                    <a:pt x="2110" y="729912"/>
                    <a:pt x="0" y="724818"/>
                    <a:pt x="0" y="719507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43717" cy="76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538" y="4924425"/>
            <a:ext cx="6989574" cy="3735744"/>
            <a:chOff x="0" y="0"/>
            <a:chExt cx="1553239" cy="8301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3239" cy="830165"/>
            </a:xfrm>
            <a:custGeom>
              <a:avLst/>
              <a:gdLst/>
              <a:ahLst/>
              <a:cxnLst/>
              <a:rect r="r" b="b" t="t" l="l"/>
              <a:pathLst>
                <a:path h="8301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810262"/>
                  </a:lnTo>
                  <a:cubicBezTo>
                    <a:pt x="1553239" y="815541"/>
                    <a:pt x="1551142" y="820603"/>
                    <a:pt x="1547409" y="824336"/>
                  </a:cubicBezTo>
                  <a:cubicBezTo>
                    <a:pt x="1543677" y="828068"/>
                    <a:pt x="1538614" y="830165"/>
                    <a:pt x="1533336" y="830165"/>
                  </a:cubicBezTo>
                  <a:lnTo>
                    <a:pt x="19903" y="830165"/>
                  </a:lnTo>
                  <a:cubicBezTo>
                    <a:pt x="14624" y="830165"/>
                    <a:pt x="9562" y="828068"/>
                    <a:pt x="5829" y="824336"/>
                  </a:cubicBezTo>
                  <a:cubicBezTo>
                    <a:pt x="2097" y="820603"/>
                    <a:pt x="0" y="815541"/>
                    <a:pt x="0" y="8102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553239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5348" y="4924425"/>
            <a:ext cx="6946726" cy="3735744"/>
            <a:chOff x="0" y="0"/>
            <a:chExt cx="1543717" cy="8301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3717" cy="830165"/>
            </a:xfrm>
            <a:custGeom>
              <a:avLst/>
              <a:gdLst/>
              <a:ahLst/>
              <a:cxnLst/>
              <a:rect r="r" b="b" t="t" l="l"/>
              <a:pathLst>
                <a:path h="830165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810140"/>
                  </a:lnTo>
                  <a:cubicBezTo>
                    <a:pt x="1543717" y="815451"/>
                    <a:pt x="1541607" y="820544"/>
                    <a:pt x="1537852" y="824300"/>
                  </a:cubicBezTo>
                  <a:cubicBezTo>
                    <a:pt x="1534096" y="828055"/>
                    <a:pt x="1529002" y="830165"/>
                    <a:pt x="1523691" y="830165"/>
                  </a:cubicBezTo>
                  <a:lnTo>
                    <a:pt x="20026" y="830165"/>
                  </a:lnTo>
                  <a:cubicBezTo>
                    <a:pt x="14715" y="830165"/>
                    <a:pt x="9621" y="828055"/>
                    <a:pt x="5865" y="824300"/>
                  </a:cubicBezTo>
                  <a:cubicBezTo>
                    <a:pt x="2110" y="820544"/>
                    <a:pt x="0" y="815451"/>
                    <a:pt x="0" y="810140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543717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6997" y="234679"/>
            <a:ext cx="1035877" cy="1035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2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0598" y="8930914"/>
            <a:ext cx="15750465" cy="817377"/>
            <a:chOff x="0" y="0"/>
            <a:chExt cx="3500103" cy="1816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0103" cy="181639"/>
            </a:xfrm>
            <a:custGeom>
              <a:avLst/>
              <a:gdLst/>
              <a:ahLst/>
              <a:cxnLst/>
              <a:rect r="r" b="b" t="t" l="l"/>
              <a:pathLst>
                <a:path h="181639" w="3500103">
                  <a:moveTo>
                    <a:pt x="8832" y="0"/>
                  </a:moveTo>
                  <a:lnTo>
                    <a:pt x="3491271" y="0"/>
                  </a:lnTo>
                  <a:cubicBezTo>
                    <a:pt x="3493613" y="0"/>
                    <a:pt x="3495860" y="931"/>
                    <a:pt x="3497516" y="2587"/>
                  </a:cubicBezTo>
                  <a:cubicBezTo>
                    <a:pt x="3499173" y="4243"/>
                    <a:pt x="3500103" y="6490"/>
                    <a:pt x="3500103" y="8832"/>
                  </a:cubicBezTo>
                  <a:lnTo>
                    <a:pt x="3500103" y="172807"/>
                  </a:lnTo>
                  <a:cubicBezTo>
                    <a:pt x="3500103" y="177685"/>
                    <a:pt x="3496149" y="181639"/>
                    <a:pt x="3491271" y="181639"/>
                  </a:cubicBezTo>
                  <a:lnTo>
                    <a:pt x="8832" y="181639"/>
                  </a:lnTo>
                  <a:cubicBezTo>
                    <a:pt x="3954" y="181639"/>
                    <a:pt x="0" y="177685"/>
                    <a:pt x="0" y="172807"/>
                  </a:cubicBezTo>
                  <a:lnTo>
                    <a:pt x="0" y="8832"/>
                  </a:lnTo>
                  <a:cubicBezTo>
                    <a:pt x="0" y="3954"/>
                    <a:pt x="3954" y="0"/>
                    <a:pt x="8832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500103" cy="21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010" y="9133992"/>
            <a:ext cx="173360" cy="186561"/>
            <a:chOff x="0" y="0"/>
            <a:chExt cx="49311" cy="530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2280" y="9133992"/>
            <a:ext cx="173360" cy="186561"/>
            <a:chOff x="0" y="0"/>
            <a:chExt cx="49311" cy="53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49638" y="9124085"/>
            <a:ext cx="173360" cy="186561"/>
            <a:chOff x="0" y="0"/>
            <a:chExt cx="49311" cy="530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01466" y="9133992"/>
            <a:ext cx="173360" cy="186561"/>
            <a:chOff x="0" y="0"/>
            <a:chExt cx="49311" cy="530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570258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4792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9819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824604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008827" y="2966667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01068" y="2905512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AutoShape 41" id="41"/>
          <p:cNvSpPr/>
          <p:nvPr/>
        </p:nvSpPr>
        <p:spPr>
          <a:xfrm flipH="true" flipV="true">
            <a:off x="10348036" y="2398252"/>
            <a:ext cx="19511" cy="5665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10348036" y="3307484"/>
            <a:ext cx="0" cy="5976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11445044" y="3297848"/>
            <a:ext cx="0" cy="60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H="true" flipV="true">
            <a:off x="11445044" y="2398252"/>
            <a:ext cx="0" cy="56654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H="true">
            <a:off x="12828532" y="3126504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6" id="46"/>
          <p:cNvSpPr txBox="true"/>
          <p:nvPr/>
        </p:nvSpPr>
        <p:spPr>
          <a:xfrm rot="0">
            <a:off x="12217469" y="2917060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1120462" y="2926697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10023455" y="2936222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AutoShape 49" id="49"/>
          <p:cNvSpPr/>
          <p:nvPr/>
        </p:nvSpPr>
        <p:spPr>
          <a:xfrm flipH="true">
            <a:off x="11693115" y="3136140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H="true">
            <a:off x="10634081" y="3145665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H="true">
            <a:off x="9552683" y="3164715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9406670" y="6321425"/>
            <a:ext cx="4199929" cy="1504338"/>
          </a:xfrm>
          <a:custGeom>
            <a:avLst/>
            <a:gdLst/>
            <a:ahLst/>
            <a:cxnLst/>
            <a:rect r="r" b="b" t="t" l="l"/>
            <a:pathLst>
              <a:path h="1504338" w="4199929">
                <a:moveTo>
                  <a:pt x="0" y="0"/>
                </a:moveTo>
                <a:lnTo>
                  <a:pt x="4199929" y="0"/>
                </a:lnTo>
                <a:lnTo>
                  <a:pt x="4199929" y="1504338"/>
                </a:lnTo>
                <a:lnTo>
                  <a:pt x="0" y="15043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6363831" y="359870"/>
            <a:ext cx="2512338" cy="79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Ethanol </a:t>
            </a:r>
          </a:p>
        </p:txBody>
      </p:sp>
      <p:sp>
        <p:nvSpPr>
          <p:cNvPr name="TextBox 54" id="54"/>
          <p:cNvSpPr txBox="true"/>
          <p:nvPr/>
        </p:nvSpPr>
        <p:spPr>
          <a:xfrm rot="0">
            <a:off x="2500678" y="1582383"/>
            <a:ext cx="29192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42440" y="1591908"/>
            <a:ext cx="2232541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247789" y="5080000"/>
            <a:ext cx="342507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 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940855" y="5105400"/>
            <a:ext cx="28357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88328" y="2766536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C₂H₆O 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88328" y="6346128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CH₃CH₂OH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0" y="9018928"/>
            <a:ext cx="31898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VERIFICATION STRIP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867039" y="9075443"/>
            <a:ext cx="194869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Atom count verified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795273" y="9070998"/>
            <a:ext cx="163651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Valence checked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430374" y="9075443"/>
            <a:ext cx="19759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Bond order checked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142275" y="9070998"/>
            <a:ext cx="2880598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Same connectivity confirmed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11120462" y="2017464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0023455" y="2017464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1902831" y="2295069"/>
            <a:ext cx="1290443" cy="7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5"/>
              </a:lnSpc>
            </a:pPr>
            <a:r>
              <a:rPr lang="en-US" sz="4489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004405" y="3886095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120462" y="3886095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1896829" y="2791390"/>
            <a:ext cx="1290443" cy="7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5"/>
              </a:lnSpc>
            </a:pPr>
            <a:r>
              <a:rPr lang="en-US" sz="4489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428648" y="4352607"/>
            <a:ext cx="3955375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2 lone pairs on O; no lone pairs on C or H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2565269" y="7818343"/>
            <a:ext cx="279011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is also written as CH₃CH₂-OH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1878" y="234679"/>
            <a:ext cx="17971628" cy="1028690"/>
            <a:chOff x="0" y="0"/>
            <a:chExt cx="3993695" cy="2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3695" cy="228598"/>
            </a:xfrm>
            <a:custGeom>
              <a:avLst/>
              <a:gdLst/>
              <a:ahLst/>
              <a:cxnLst/>
              <a:rect r="r" b="b" t="t" l="l"/>
              <a:pathLst>
                <a:path h="228598" w="3993695">
                  <a:moveTo>
                    <a:pt x="7741" y="0"/>
                  </a:moveTo>
                  <a:lnTo>
                    <a:pt x="3985955" y="0"/>
                  </a:lnTo>
                  <a:cubicBezTo>
                    <a:pt x="3990230" y="0"/>
                    <a:pt x="3993695" y="3466"/>
                    <a:pt x="3993695" y="7741"/>
                  </a:cubicBezTo>
                  <a:lnTo>
                    <a:pt x="3993695" y="220857"/>
                  </a:lnTo>
                  <a:cubicBezTo>
                    <a:pt x="3993695" y="222910"/>
                    <a:pt x="3992880" y="224879"/>
                    <a:pt x="3991428" y="226331"/>
                  </a:cubicBezTo>
                  <a:cubicBezTo>
                    <a:pt x="3989977" y="227782"/>
                    <a:pt x="3988008" y="228598"/>
                    <a:pt x="3985955" y="228598"/>
                  </a:cubicBezTo>
                  <a:lnTo>
                    <a:pt x="7741" y="228598"/>
                  </a:lnTo>
                  <a:cubicBezTo>
                    <a:pt x="3466" y="228598"/>
                    <a:pt x="0" y="225132"/>
                    <a:pt x="0" y="220857"/>
                  </a:cubicBezTo>
                  <a:lnTo>
                    <a:pt x="0" y="7741"/>
                  </a:lnTo>
                  <a:cubicBezTo>
                    <a:pt x="0" y="3466"/>
                    <a:pt x="3466" y="0"/>
                    <a:pt x="7741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93695" cy="257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013" y="1434603"/>
            <a:ext cx="6989574" cy="3350992"/>
            <a:chOff x="0" y="0"/>
            <a:chExt cx="1553239" cy="744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239" cy="744665"/>
            </a:xfrm>
            <a:custGeom>
              <a:avLst/>
              <a:gdLst/>
              <a:ahLst/>
              <a:cxnLst/>
              <a:rect r="r" b="b" t="t" l="l"/>
              <a:pathLst>
                <a:path h="7446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724762"/>
                  </a:lnTo>
                  <a:cubicBezTo>
                    <a:pt x="1553239" y="730041"/>
                    <a:pt x="1551142" y="735103"/>
                    <a:pt x="1547409" y="738836"/>
                  </a:cubicBezTo>
                  <a:cubicBezTo>
                    <a:pt x="1543677" y="742568"/>
                    <a:pt x="1538614" y="744665"/>
                    <a:pt x="1533336" y="744665"/>
                  </a:cubicBezTo>
                  <a:lnTo>
                    <a:pt x="19903" y="744665"/>
                  </a:lnTo>
                  <a:cubicBezTo>
                    <a:pt x="14624" y="744665"/>
                    <a:pt x="9562" y="742568"/>
                    <a:pt x="5829" y="738836"/>
                  </a:cubicBezTo>
                  <a:cubicBezTo>
                    <a:pt x="2097" y="735103"/>
                    <a:pt x="0" y="730041"/>
                    <a:pt x="0" y="7247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53239" cy="77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85348" y="1434603"/>
            <a:ext cx="6946726" cy="3327897"/>
            <a:chOff x="0" y="0"/>
            <a:chExt cx="1543717" cy="739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3717" cy="739533"/>
            </a:xfrm>
            <a:custGeom>
              <a:avLst/>
              <a:gdLst/>
              <a:ahLst/>
              <a:cxnLst/>
              <a:rect r="r" b="b" t="t" l="l"/>
              <a:pathLst>
                <a:path h="739533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719507"/>
                  </a:lnTo>
                  <a:cubicBezTo>
                    <a:pt x="1543717" y="724818"/>
                    <a:pt x="1541607" y="729912"/>
                    <a:pt x="1537852" y="733667"/>
                  </a:cubicBezTo>
                  <a:cubicBezTo>
                    <a:pt x="1534096" y="737423"/>
                    <a:pt x="1529002" y="739533"/>
                    <a:pt x="1523691" y="739533"/>
                  </a:cubicBezTo>
                  <a:lnTo>
                    <a:pt x="20026" y="739533"/>
                  </a:lnTo>
                  <a:cubicBezTo>
                    <a:pt x="14715" y="739533"/>
                    <a:pt x="9621" y="737423"/>
                    <a:pt x="5865" y="733667"/>
                  </a:cubicBezTo>
                  <a:cubicBezTo>
                    <a:pt x="2110" y="729912"/>
                    <a:pt x="0" y="724818"/>
                    <a:pt x="0" y="719507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43717" cy="76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538" y="4924425"/>
            <a:ext cx="6989574" cy="3735744"/>
            <a:chOff x="0" y="0"/>
            <a:chExt cx="1553239" cy="8301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3239" cy="830165"/>
            </a:xfrm>
            <a:custGeom>
              <a:avLst/>
              <a:gdLst/>
              <a:ahLst/>
              <a:cxnLst/>
              <a:rect r="r" b="b" t="t" l="l"/>
              <a:pathLst>
                <a:path h="8301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810262"/>
                  </a:lnTo>
                  <a:cubicBezTo>
                    <a:pt x="1553239" y="815541"/>
                    <a:pt x="1551142" y="820603"/>
                    <a:pt x="1547409" y="824336"/>
                  </a:cubicBezTo>
                  <a:cubicBezTo>
                    <a:pt x="1543677" y="828068"/>
                    <a:pt x="1538614" y="830165"/>
                    <a:pt x="1533336" y="830165"/>
                  </a:cubicBezTo>
                  <a:lnTo>
                    <a:pt x="19903" y="830165"/>
                  </a:lnTo>
                  <a:cubicBezTo>
                    <a:pt x="14624" y="830165"/>
                    <a:pt x="9562" y="828068"/>
                    <a:pt x="5829" y="824336"/>
                  </a:cubicBezTo>
                  <a:cubicBezTo>
                    <a:pt x="2097" y="820603"/>
                    <a:pt x="0" y="815541"/>
                    <a:pt x="0" y="8102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553239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5348" y="4924425"/>
            <a:ext cx="6946726" cy="3735744"/>
            <a:chOff x="0" y="0"/>
            <a:chExt cx="1543717" cy="8301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3717" cy="830165"/>
            </a:xfrm>
            <a:custGeom>
              <a:avLst/>
              <a:gdLst/>
              <a:ahLst/>
              <a:cxnLst/>
              <a:rect r="r" b="b" t="t" l="l"/>
              <a:pathLst>
                <a:path h="830165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810140"/>
                  </a:lnTo>
                  <a:cubicBezTo>
                    <a:pt x="1543717" y="815451"/>
                    <a:pt x="1541607" y="820544"/>
                    <a:pt x="1537852" y="824300"/>
                  </a:cubicBezTo>
                  <a:cubicBezTo>
                    <a:pt x="1534096" y="828055"/>
                    <a:pt x="1529002" y="830165"/>
                    <a:pt x="1523691" y="830165"/>
                  </a:cubicBezTo>
                  <a:lnTo>
                    <a:pt x="20026" y="830165"/>
                  </a:lnTo>
                  <a:cubicBezTo>
                    <a:pt x="14715" y="830165"/>
                    <a:pt x="9621" y="828055"/>
                    <a:pt x="5865" y="824300"/>
                  </a:cubicBezTo>
                  <a:cubicBezTo>
                    <a:pt x="2110" y="820544"/>
                    <a:pt x="0" y="815451"/>
                    <a:pt x="0" y="810140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543717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6997" y="234679"/>
            <a:ext cx="1035877" cy="1035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3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0598" y="8930914"/>
            <a:ext cx="15750465" cy="817377"/>
            <a:chOff x="0" y="0"/>
            <a:chExt cx="3500103" cy="1816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0103" cy="181639"/>
            </a:xfrm>
            <a:custGeom>
              <a:avLst/>
              <a:gdLst/>
              <a:ahLst/>
              <a:cxnLst/>
              <a:rect r="r" b="b" t="t" l="l"/>
              <a:pathLst>
                <a:path h="181639" w="3500103">
                  <a:moveTo>
                    <a:pt x="8832" y="0"/>
                  </a:moveTo>
                  <a:lnTo>
                    <a:pt x="3491271" y="0"/>
                  </a:lnTo>
                  <a:cubicBezTo>
                    <a:pt x="3493613" y="0"/>
                    <a:pt x="3495860" y="931"/>
                    <a:pt x="3497516" y="2587"/>
                  </a:cubicBezTo>
                  <a:cubicBezTo>
                    <a:pt x="3499173" y="4243"/>
                    <a:pt x="3500103" y="6490"/>
                    <a:pt x="3500103" y="8832"/>
                  </a:cubicBezTo>
                  <a:lnTo>
                    <a:pt x="3500103" y="172807"/>
                  </a:lnTo>
                  <a:cubicBezTo>
                    <a:pt x="3500103" y="177685"/>
                    <a:pt x="3496149" y="181639"/>
                    <a:pt x="3491271" y="181639"/>
                  </a:cubicBezTo>
                  <a:lnTo>
                    <a:pt x="8832" y="181639"/>
                  </a:lnTo>
                  <a:cubicBezTo>
                    <a:pt x="3954" y="181639"/>
                    <a:pt x="0" y="177685"/>
                    <a:pt x="0" y="172807"/>
                  </a:cubicBezTo>
                  <a:lnTo>
                    <a:pt x="0" y="8832"/>
                  </a:lnTo>
                  <a:cubicBezTo>
                    <a:pt x="0" y="3954"/>
                    <a:pt x="3954" y="0"/>
                    <a:pt x="8832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500103" cy="21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010" y="9133992"/>
            <a:ext cx="173360" cy="186561"/>
            <a:chOff x="0" y="0"/>
            <a:chExt cx="49311" cy="530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2280" y="9133992"/>
            <a:ext cx="173360" cy="186561"/>
            <a:chOff x="0" y="0"/>
            <a:chExt cx="49311" cy="53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49638" y="9124085"/>
            <a:ext cx="173360" cy="186561"/>
            <a:chOff x="0" y="0"/>
            <a:chExt cx="49311" cy="530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01466" y="9133992"/>
            <a:ext cx="173360" cy="186561"/>
            <a:chOff x="0" y="0"/>
            <a:chExt cx="49311" cy="530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570258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4792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9819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824604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098196" y="2950263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306838" y="3850641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13390437" y="2889108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AutoShape 42" id="42"/>
          <p:cNvSpPr/>
          <p:nvPr/>
        </p:nvSpPr>
        <p:spPr>
          <a:xfrm flipH="true" flipV="true">
            <a:off x="10437405" y="2381847"/>
            <a:ext cx="14422" cy="6123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10437405" y="3291080"/>
            <a:ext cx="0" cy="5976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V="true">
            <a:off x="11478131" y="2436976"/>
            <a:ext cx="0" cy="3935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5" id="45"/>
          <p:cNvSpPr/>
          <p:nvPr/>
        </p:nvSpPr>
        <p:spPr>
          <a:xfrm flipV="true">
            <a:off x="12631420" y="3291080"/>
            <a:ext cx="0" cy="60729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6" id="46"/>
          <p:cNvSpPr/>
          <p:nvPr/>
        </p:nvSpPr>
        <p:spPr>
          <a:xfrm flipH="true" flipV="true">
            <a:off x="12631420" y="2381847"/>
            <a:ext cx="0" cy="5453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7" id="47"/>
          <p:cNvSpPr/>
          <p:nvPr/>
        </p:nvSpPr>
        <p:spPr>
          <a:xfrm flipH="true">
            <a:off x="12917901" y="3110100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8" id="48"/>
          <p:cNvSpPr txBox="true"/>
          <p:nvPr/>
        </p:nvSpPr>
        <p:spPr>
          <a:xfrm rot="0">
            <a:off x="12306838" y="2910292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11209831" y="2910292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10112824" y="2919817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AutoShape 51" id="51"/>
          <p:cNvSpPr/>
          <p:nvPr/>
        </p:nvSpPr>
        <p:spPr>
          <a:xfrm flipH="true">
            <a:off x="11782484" y="3119736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H="true">
            <a:off x="10723450" y="3129261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H="true">
            <a:off x="9642051" y="3148311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V="true">
            <a:off x="11588319" y="2438997"/>
            <a:ext cx="0" cy="3935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9886749" y="5721350"/>
            <a:ext cx="2601903" cy="2497827"/>
          </a:xfrm>
          <a:custGeom>
            <a:avLst/>
            <a:gdLst/>
            <a:ahLst/>
            <a:cxnLst/>
            <a:rect r="r" b="b" t="t" l="l"/>
            <a:pathLst>
              <a:path h="2497827" w="2601903">
                <a:moveTo>
                  <a:pt x="0" y="0"/>
                </a:moveTo>
                <a:lnTo>
                  <a:pt x="2601903" y="0"/>
                </a:lnTo>
                <a:lnTo>
                  <a:pt x="2601903" y="2497826"/>
                </a:lnTo>
                <a:lnTo>
                  <a:pt x="0" y="249782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3809226" y="359870"/>
            <a:ext cx="7621548" cy="79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Acetone [p</a:t>
            </a: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ropan-2-one]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2500678" y="1582383"/>
            <a:ext cx="29192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242440" y="1591908"/>
            <a:ext cx="2232541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247789" y="5080000"/>
            <a:ext cx="342507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 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40855" y="5105400"/>
            <a:ext cx="28357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88328" y="2766536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C₃H₆O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1588328" y="6346128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CH₃COCH₃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0" y="9018928"/>
            <a:ext cx="31898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VERIFICATION STRIP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867039" y="9075443"/>
            <a:ext cx="194869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Atom count verified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795273" y="9070998"/>
            <a:ext cx="163651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Valence checked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430374" y="9075443"/>
            <a:ext cx="19759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Bond order checked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142275" y="9070998"/>
            <a:ext cx="2880598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Same connectivity confirmed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428648" y="4307628"/>
            <a:ext cx="3955375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2 lone pairs on O; no lone pairs on C or H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11209831" y="2001060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112824" y="2001060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12306838" y="2001060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0093774" y="3869691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73" id="73"/>
          <p:cNvSpPr txBox="true"/>
          <p:nvPr/>
        </p:nvSpPr>
        <p:spPr>
          <a:xfrm rot="5400000">
            <a:off x="11198611" y="1879787"/>
            <a:ext cx="649163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1"/>
              </a:lnSpc>
            </a:pPr>
            <a:r>
              <a:rPr lang="en-US" sz="39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  <p:sp>
        <p:nvSpPr>
          <p:cNvPr name="TextBox 74" id="74"/>
          <p:cNvSpPr txBox="true"/>
          <p:nvPr/>
        </p:nvSpPr>
        <p:spPr>
          <a:xfrm rot="5400000">
            <a:off x="11599229" y="1875012"/>
            <a:ext cx="649163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1"/>
              </a:lnSpc>
            </a:pPr>
            <a:r>
              <a:rPr lang="en-US" sz="39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1878" y="234679"/>
            <a:ext cx="17971628" cy="1028690"/>
            <a:chOff x="0" y="0"/>
            <a:chExt cx="3993695" cy="2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3695" cy="228598"/>
            </a:xfrm>
            <a:custGeom>
              <a:avLst/>
              <a:gdLst/>
              <a:ahLst/>
              <a:cxnLst/>
              <a:rect r="r" b="b" t="t" l="l"/>
              <a:pathLst>
                <a:path h="228598" w="3993695">
                  <a:moveTo>
                    <a:pt x="7741" y="0"/>
                  </a:moveTo>
                  <a:lnTo>
                    <a:pt x="3985955" y="0"/>
                  </a:lnTo>
                  <a:cubicBezTo>
                    <a:pt x="3990230" y="0"/>
                    <a:pt x="3993695" y="3466"/>
                    <a:pt x="3993695" y="7741"/>
                  </a:cubicBezTo>
                  <a:lnTo>
                    <a:pt x="3993695" y="220857"/>
                  </a:lnTo>
                  <a:cubicBezTo>
                    <a:pt x="3993695" y="222910"/>
                    <a:pt x="3992880" y="224879"/>
                    <a:pt x="3991428" y="226331"/>
                  </a:cubicBezTo>
                  <a:cubicBezTo>
                    <a:pt x="3989977" y="227782"/>
                    <a:pt x="3988008" y="228598"/>
                    <a:pt x="3985955" y="228598"/>
                  </a:cubicBezTo>
                  <a:lnTo>
                    <a:pt x="7741" y="228598"/>
                  </a:lnTo>
                  <a:cubicBezTo>
                    <a:pt x="3466" y="228598"/>
                    <a:pt x="0" y="225132"/>
                    <a:pt x="0" y="220857"/>
                  </a:cubicBezTo>
                  <a:lnTo>
                    <a:pt x="0" y="7741"/>
                  </a:lnTo>
                  <a:cubicBezTo>
                    <a:pt x="0" y="3466"/>
                    <a:pt x="3466" y="0"/>
                    <a:pt x="7741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93695" cy="257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013" y="1434603"/>
            <a:ext cx="6989574" cy="3350992"/>
            <a:chOff x="0" y="0"/>
            <a:chExt cx="1553239" cy="744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239" cy="744665"/>
            </a:xfrm>
            <a:custGeom>
              <a:avLst/>
              <a:gdLst/>
              <a:ahLst/>
              <a:cxnLst/>
              <a:rect r="r" b="b" t="t" l="l"/>
              <a:pathLst>
                <a:path h="7446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724762"/>
                  </a:lnTo>
                  <a:cubicBezTo>
                    <a:pt x="1553239" y="730041"/>
                    <a:pt x="1551142" y="735103"/>
                    <a:pt x="1547409" y="738836"/>
                  </a:cubicBezTo>
                  <a:cubicBezTo>
                    <a:pt x="1543677" y="742568"/>
                    <a:pt x="1538614" y="744665"/>
                    <a:pt x="1533336" y="744665"/>
                  </a:cubicBezTo>
                  <a:lnTo>
                    <a:pt x="19903" y="744665"/>
                  </a:lnTo>
                  <a:cubicBezTo>
                    <a:pt x="14624" y="744665"/>
                    <a:pt x="9562" y="742568"/>
                    <a:pt x="5829" y="738836"/>
                  </a:cubicBezTo>
                  <a:cubicBezTo>
                    <a:pt x="2097" y="735103"/>
                    <a:pt x="0" y="730041"/>
                    <a:pt x="0" y="7247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53239" cy="77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85348" y="1434603"/>
            <a:ext cx="6946726" cy="3327897"/>
            <a:chOff x="0" y="0"/>
            <a:chExt cx="1543717" cy="739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3717" cy="739533"/>
            </a:xfrm>
            <a:custGeom>
              <a:avLst/>
              <a:gdLst/>
              <a:ahLst/>
              <a:cxnLst/>
              <a:rect r="r" b="b" t="t" l="l"/>
              <a:pathLst>
                <a:path h="739533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719507"/>
                  </a:lnTo>
                  <a:cubicBezTo>
                    <a:pt x="1543717" y="724818"/>
                    <a:pt x="1541607" y="729912"/>
                    <a:pt x="1537852" y="733667"/>
                  </a:cubicBezTo>
                  <a:cubicBezTo>
                    <a:pt x="1534096" y="737423"/>
                    <a:pt x="1529002" y="739533"/>
                    <a:pt x="1523691" y="739533"/>
                  </a:cubicBezTo>
                  <a:lnTo>
                    <a:pt x="20026" y="739533"/>
                  </a:lnTo>
                  <a:cubicBezTo>
                    <a:pt x="14715" y="739533"/>
                    <a:pt x="9621" y="737423"/>
                    <a:pt x="5865" y="733667"/>
                  </a:cubicBezTo>
                  <a:cubicBezTo>
                    <a:pt x="2110" y="729912"/>
                    <a:pt x="0" y="724818"/>
                    <a:pt x="0" y="719507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43717" cy="76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538" y="4924425"/>
            <a:ext cx="6989574" cy="3735744"/>
            <a:chOff x="0" y="0"/>
            <a:chExt cx="1553239" cy="8301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3239" cy="830165"/>
            </a:xfrm>
            <a:custGeom>
              <a:avLst/>
              <a:gdLst/>
              <a:ahLst/>
              <a:cxnLst/>
              <a:rect r="r" b="b" t="t" l="l"/>
              <a:pathLst>
                <a:path h="8301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810262"/>
                  </a:lnTo>
                  <a:cubicBezTo>
                    <a:pt x="1553239" y="815541"/>
                    <a:pt x="1551142" y="820603"/>
                    <a:pt x="1547409" y="824336"/>
                  </a:cubicBezTo>
                  <a:cubicBezTo>
                    <a:pt x="1543677" y="828068"/>
                    <a:pt x="1538614" y="830165"/>
                    <a:pt x="1533336" y="830165"/>
                  </a:cubicBezTo>
                  <a:lnTo>
                    <a:pt x="19903" y="830165"/>
                  </a:lnTo>
                  <a:cubicBezTo>
                    <a:pt x="14624" y="830165"/>
                    <a:pt x="9562" y="828068"/>
                    <a:pt x="5829" y="824336"/>
                  </a:cubicBezTo>
                  <a:cubicBezTo>
                    <a:pt x="2097" y="820603"/>
                    <a:pt x="0" y="815541"/>
                    <a:pt x="0" y="8102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553239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5348" y="4924425"/>
            <a:ext cx="6946726" cy="3735744"/>
            <a:chOff x="0" y="0"/>
            <a:chExt cx="1543717" cy="8301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3717" cy="830165"/>
            </a:xfrm>
            <a:custGeom>
              <a:avLst/>
              <a:gdLst/>
              <a:ahLst/>
              <a:cxnLst/>
              <a:rect r="r" b="b" t="t" l="l"/>
              <a:pathLst>
                <a:path h="830165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810140"/>
                  </a:lnTo>
                  <a:cubicBezTo>
                    <a:pt x="1543717" y="815451"/>
                    <a:pt x="1541607" y="820544"/>
                    <a:pt x="1537852" y="824300"/>
                  </a:cubicBezTo>
                  <a:cubicBezTo>
                    <a:pt x="1534096" y="828055"/>
                    <a:pt x="1529002" y="830165"/>
                    <a:pt x="1523691" y="830165"/>
                  </a:cubicBezTo>
                  <a:lnTo>
                    <a:pt x="20026" y="830165"/>
                  </a:lnTo>
                  <a:cubicBezTo>
                    <a:pt x="14715" y="830165"/>
                    <a:pt x="9621" y="828055"/>
                    <a:pt x="5865" y="824300"/>
                  </a:cubicBezTo>
                  <a:cubicBezTo>
                    <a:pt x="2110" y="820544"/>
                    <a:pt x="0" y="815451"/>
                    <a:pt x="0" y="810140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543717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6997" y="234679"/>
            <a:ext cx="1035877" cy="1035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4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0598" y="8930914"/>
            <a:ext cx="15750465" cy="817377"/>
            <a:chOff x="0" y="0"/>
            <a:chExt cx="3500103" cy="1816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0103" cy="181639"/>
            </a:xfrm>
            <a:custGeom>
              <a:avLst/>
              <a:gdLst/>
              <a:ahLst/>
              <a:cxnLst/>
              <a:rect r="r" b="b" t="t" l="l"/>
              <a:pathLst>
                <a:path h="181639" w="3500103">
                  <a:moveTo>
                    <a:pt x="8832" y="0"/>
                  </a:moveTo>
                  <a:lnTo>
                    <a:pt x="3491271" y="0"/>
                  </a:lnTo>
                  <a:cubicBezTo>
                    <a:pt x="3493613" y="0"/>
                    <a:pt x="3495860" y="931"/>
                    <a:pt x="3497516" y="2587"/>
                  </a:cubicBezTo>
                  <a:cubicBezTo>
                    <a:pt x="3499173" y="4243"/>
                    <a:pt x="3500103" y="6490"/>
                    <a:pt x="3500103" y="8832"/>
                  </a:cubicBezTo>
                  <a:lnTo>
                    <a:pt x="3500103" y="172807"/>
                  </a:lnTo>
                  <a:cubicBezTo>
                    <a:pt x="3500103" y="177685"/>
                    <a:pt x="3496149" y="181639"/>
                    <a:pt x="3491271" y="181639"/>
                  </a:cubicBezTo>
                  <a:lnTo>
                    <a:pt x="8832" y="181639"/>
                  </a:lnTo>
                  <a:cubicBezTo>
                    <a:pt x="3954" y="181639"/>
                    <a:pt x="0" y="177685"/>
                    <a:pt x="0" y="172807"/>
                  </a:cubicBezTo>
                  <a:lnTo>
                    <a:pt x="0" y="8832"/>
                  </a:lnTo>
                  <a:cubicBezTo>
                    <a:pt x="0" y="3954"/>
                    <a:pt x="3954" y="0"/>
                    <a:pt x="8832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500103" cy="21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010" y="9133992"/>
            <a:ext cx="173360" cy="186561"/>
            <a:chOff x="0" y="0"/>
            <a:chExt cx="49311" cy="530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2280" y="9133992"/>
            <a:ext cx="173360" cy="186561"/>
            <a:chOff x="0" y="0"/>
            <a:chExt cx="49311" cy="53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49638" y="9124085"/>
            <a:ext cx="173360" cy="186561"/>
            <a:chOff x="0" y="0"/>
            <a:chExt cx="49311" cy="530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01466" y="9133992"/>
            <a:ext cx="173360" cy="186561"/>
            <a:chOff x="0" y="0"/>
            <a:chExt cx="49311" cy="530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570258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4792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9819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824604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9098196" y="2950263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3390437" y="2889108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AutoShape 41" id="41"/>
          <p:cNvSpPr/>
          <p:nvPr/>
        </p:nvSpPr>
        <p:spPr>
          <a:xfrm flipH="true" flipV="true">
            <a:off x="10437405" y="2381847"/>
            <a:ext cx="14422" cy="61230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10437405" y="3291080"/>
            <a:ext cx="0" cy="5976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11478131" y="2436976"/>
            <a:ext cx="0" cy="3935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H="true">
            <a:off x="12917901" y="3110100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12306838" y="2910292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1209831" y="2910292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10112824" y="2919817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AutoShape 48" id="48"/>
          <p:cNvSpPr/>
          <p:nvPr/>
        </p:nvSpPr>
        <p:spPr>
          <a:xfrm flipH="true">
            <a:off x="11782484" y="3119736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H="true">
            <a:off x="10723450" y="3129261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H="true">
            <a:off x="9642051" y="3148311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V="true">
            <a:off x="11588319" y="2438997"/>
            <a:ext cx="0" cy="3935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2" id="52"/>
          <p:cNvSpPr/>
          <p:nvPr/>
        </p:nvSpPr>
        <p:spPr>
          <a:xfrm flipH="false" flipV="false" rot="0">
            <a:off x="9755114" y="5521325"/>
            <a:ext cx="3302444" cy="2894142"/>
          </a:xfrm>
          <a:custGeom>
            <a:avLst/>
            <a:gdLst/>
            <a:ahLst/>
            <a:cxnLst/>
            <a:rect r="r" b="b" t="t" l="l"/>
            <a:pathLst>
              <a:path h="2894142" w="3302444">
                <a:moveTo>
                  <a:pt x="0" y="0"/>
                </a:moveTo>
                <a:lnTo>
                  <a:pt x="3302444" y="0"/>
                </a:lnTo>
                <a:lnTo>
                  <a:pt x="3302444" y="2894141"/>
                </a:lnTo>
                <a:lnTo>
                  <a:pt x="0" y="28941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3" id="53"/>
          <p:cNvSpPr txBox="true"/>
          <p:nvPr/>
        </p:nvSpPr>
        <p:spPr>
          <a:xfrm rot="0">
            <a:off x="3501211" y="359870"/>
            <a:ext cx="8237577" cy="162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Acetic acid [eth</a:t>
            </a: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anoic acid] </a:t>
            </a:r>
          </a:p>
          <a:p>
            <a:pPr algn="ctr">
              <a:lnSpc>
                <a:spcPts val="6580"/>
              </a:lnSpc>
            </a:pPr>
          </a:p>
        </p:txBody>
      </p:sp>
      <p:sp>
        <p:nvSpPr>
          <p:cNvPr name="TextBox 54" id="54"/>
          <p:cNvSpPr txBox="true"/>
          <p:nvPr/>
        </p:nvSpPr>
        <p:spPr>
          <a:xfrm rot="0">
            <a:off x="2500678" y="1582383"/>
            <a:ext cx="29192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name="TextBox 55" id="55"/>
          <p:cNvSpPr txBox="true"/>
          <p:nvPr/>
        </p:nvSpPr>
        <p:spPr>
          <a:xfrm rot="0">
            <a:off x="10242440" y="1591908"/>
            <a:ext cx="2232541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name="TextBox 56" id="56"/>
          <p:cNvSpPr txBox="true"/>
          <p:nvPr/>
        </p:nvSpPr>
        <p:spPr>
          <a:xfrm rot="0">
            <a:off x="2247789" y="5080000"/>
            <a:ext cx="342507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 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</p:txBody>
      </p:sp>
      <p:sp>
        <p:nvSpPr>
          <p:cNvPr name="TextBox 57" id="57"/>
          <p:cNvSpPr txBox="true"/>
          <p:nvPr/>
        </p:nvSpPr>
        <p:spPr>
          <a:xfrm rot="0">
            <a:off x="9940855" y="5105400"/>
            <a:ext cx="28357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 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588328" y="2766536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C₂H₄O₂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1588328" y="6346128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CH₃COOH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0" y="9018928"/>
            <a:ext cx="31898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VERIFICATION STRIP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3867039" y="9075443"/>
            <a:ext cx="194869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Atom count verified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6795273" y="9070998"/>
            <a:ext cx="163651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Valence checked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9430374" y="9075443"/>
            <a:ext cx="19759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Bond order checked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12142275" y="9070998"/>
            <a:ext cx="2880598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Same connectivity confirmed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9553604" y="4307628"/>
            <a:ext cx="3705463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2 lone pairs on each O; none on C or H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11209831" y="2001060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0112824" y="2001060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10093774" y="3869691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69" id="69"/>
          <p:cNvSpPr txBox="true"/>
          <p:nvPr/>
        </p:nvSpPr>
        <p:spPr>
          <a:xfrm rot="5400000">
            <a:off x="11198611" y="1879787"/>
            <a:ext cx="649163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1"/>
              </a:lnSpc>
            </a:pPr>
            <a:r>
              <a:rPr lang="en-US" sz="39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  <p:sp>
        <p:nvSpPr>
          <p:cNvPr name="TextBox 70" id="70"/>
          <p:cNvSpPr txBox="true"/>
          <p:nvPr/>
        </p:nvSpPr>
        <p:spPr>
          <a:xfrm rot="5400000">
            <a:off x="11599229" y="1875012"/>
            <a:ext cx="649163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1"/>
              </a:lnSpc>
            </a:pPr>
            <a:r>
              <a:rPr lang="en-US" sz="39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2512465" y="7818343"/>
            <a:ext cx="2895719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is also written as CH₃C(=O)OH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11986198" y="2781865"/>
            <a:ext cx="1290443" cy="7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5"/>
              </a:lnSpc>
            </a:pPr>
            <a:r>
              <a:rPr lang="en-US" sz="4489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  <p:sp>
        <p:nvSpPr>
          <p:cNvPr name="TextBox 73" id="73"/>
          <p:cNvSpPr txBox="true"/>
          <p:nvPr/>
        </p:nvSpPr>
        <p:spPr>
          <a:xfrm rot="0">
            <a:off x="11986198" y="2295069"/>
            <a:ext cx="1290443" cy="7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5"/>
              </a:lnSpc>
            </a:pPr>
            <a:r>
              <a:rPr lang="en-US" sz="4489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1878" y="234679"/>
            <a:ext cx="17971628" cy="1028690"/>
            <a:chOff x="0" y="0"/>
            <a:chExt cx="3993695" cy="2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3695" cy="228598"/>
            </a:xfrm>
            <a:custGeom>
              <a:avLst/>
              <a:gdLst/>
              <a:ahLst/>
              <a:cxnLst/>
              <a:rect r="r" b="b" t="t" l="l"/>
              <a:pathLst>
                <a:path h="228598" w="3993695">
                  <a:moveTo>
                    <a:pt x="7741" y="0"/>
                  </a:moveTo>
                  <a:lnTo>
                    <a:pt x="3985955" y="0"/>
                  </a:lnTo>
                  <a:cubicBezTo>
                    <a:pt x="3990230" y="0"/>
                    <a:pt x="3993695" y="3466"/>
                    <a:pt x="3993695" y="7741"/>
                  </a:cubicBezTo>
                  <a:lnTo>
                    <a:pt x="3993695" y="220857"/>
                  </a:lnTo>
                  <a:cubicBezTo>
                    <a:pt x="3993695" y="222910"/>
                    <a:pt x="3992880" y="224879"/>
                    <a:pt x="3991428" y="226331"/>
                  </a:cubicBezTo>
                  <a:cubicBezTo>
                    <a:pt x="3989977" y="227782"/>
                    <a:pt x="3988008" y="228598"/>
                    <a:pt x="3985955" y="228598"/>
                  </a:cubicBezTo>
                  <a:lnTo>
                    <a:pt x="7741" y="228598"/>
                  </a:lnTo>
                  <a:cubicBezTo>
                    <a:pt x="3466" y="228598"/>
                    <a:pt x="0" y="225132"/>
                    <a:pt x="0" y="220857"/>
                  </a:cubicBezTo>
                  <a:lnTo>
                    <a:pt x="0" y="7741"/>
                  </a:lnTo>
                  <a:cubicBezTo>
                    <a:pt x="0" y="3466"/>
                    <a:pt x="3466" y="0"/>
                    <a:pt x="7741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93695" cy="257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013" y="1434603"/>
            <a:ext cx="6989574" cy="3350992"/>
            <a:chOff x="0" y="0"/>
            <a:chExt cx="1553239" cy="744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239" cy="744665"/>
            </a:xfrm>
            <a:custGeom>
              <a:avLst/>
              <a:gdLst/>
              <a:ahLst/>
              <a:cxnLst/>
              <a:rect r="r" b="b" t="t" l="l"/>
              <a:pathLst>
                <a:path h="7446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724762"/>
                  </a:lnTo>
                  <a:cubicBezTo>
                    <a:pt x="1553239" y="730041"/>
                    <a:pt x="1551142" y="735103"/>
                    <a:pt x="1547409" y="738836"/>
                  </a:cubicBezTo>
                  <a:cubicBezTo>
                    <a:pt x="1543677" y="742568"/>
                    <a:pt x="1538614" y="744665"/>
                    <a:pt x="1533336" y="744665"/>
                  </a:cubicBezTo>
                  <a:lnTo>
                    <a:pt x="19903" y="744665"/>
                  </a:lnTo>
                  <a:cubicBezTo>
                    <a:pt x="14624" y="744665"/>
                    <a:pt x="9562" y="742568"/>
                    <a:pt x="5829" y="738836"/>
                  </a:cubicBezTo>
                  <a:cubicBezTo>
                    <a:pt x="2097" y="735103"/>
                    <a:pt x="0" y="730041"/>
                    <a:pt x="0" y="7247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53239" cy="77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85348" y="1434603"/>
            <a:ext cx="6946726" cy="3327897"/>
            <a:chOff x="0" y="0"/>
            <a:chExt cx="1543717" cy="739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3717" cy="739533"/>
            </a:xfrm>
            <a:custGeom>
              <a:avLst/>
              <a:gdLst/>
              <a:ahLst/>
              <a:cxnLst/>
              <a:rect r="r" b="b" t="t" l="l"/>
              <a:pathLst>
                <a:path h="739533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719507"/>
                  </a:lnTo>
                  <a:cubicBezTo>
                    <a:pt x="1543717" y="724818"/>
                    <a:pt x="1541607" y="729912"/>
                    <a:pt x="1537852" y="733667"/>
                  </a:cubicBezTo>
                  <a:cubicBezTo>
                    <a:pt x="1534096" y="737423"/>
                    <a:pt x="1529002" y="739533"/>
                    <a:pt x="1523691" y="739533"/>
                  </a:cubicBezTo>
                  <a:lnTo>
                    <a:pt x="20026" y="739533"/>
                  </a:lnTo>
                  <a:cubicBezTo>
                    <a:pt x="14715" y="739533"/>
                    <a:pt x="9621" y="737423"/>
                    <a:pt x="5865" y="733667"/>
                  </a:cubicBezTo>
                  <a:cubicBezTo>
                    <a:pt x="2110" y="729912"/>
                    <a:pt x="0" y="724818"/>
                    <a:pt x="0" y="719507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43717" cy="76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538" y="4924425"/>
            <a:ext cx="6989574" cy="3735744"/>
            <a:chOff x="0" y="0"/>
            <a:chExt cx="1553239" cy="8301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3239" cy="830165"/>
            </a:xfrm>
            <a:custGeom>
              <a:avLst/>
              <a:gdLst/>
              <a:ahLst/>
              <a:cxnLst/>
              <a:rect r="r" b="b" t="t" l="l"/>
              <a:pathLst>
                <a:path h="8301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810262"/>
                  </a:lnTo>
                  <a:cubicBezTo>
                    <a:pt x="1553239" y="815541"/>
                    <a:pt x="1551142" y="820603"/>
                    <a:pt x="1547409" y="824336"/>
                  </a:cubicBezTo>
                  <a:cubicBezTo>
                    <a:pt x="1543677" y="828068"/>
                    <a:pt x="1538614" y="830165"/>
                    <a:pt x="1533336" y="830165"/>
                  </a:cubicBezTo>
                  <a:lnTo>
                    <a:pt x="19903" y="830165"/>
                  </a:lnTo>
                  <a:cubicBezTo>
                    <a:pt x="14624" y="830165"/>
                    <a:pt x="9562" y="828068"/>
                    <a:pt x="5829" y="824336"/>
                  </a:cubicBezTo>
                  <a:cubicBezTo>
                    <a:pt x="2097" y="820603"/>
                    <a:pt x="0" y="815541"/>
                    <a:pt x="0" y="8102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553239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5348" y="4924425"/>
            <a:ext cx="6946726" cy="3735744"/>
            <a:chOff x="0" y="0"/>
            <a:chExt cx="1543717" cy="8301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3717" cy="830165"/>
            </a:xfrm>
            <a:custGeom>
              <a:avLst/>
              <a:gdLst/>
              <a:ahLst/>
              <a:cxnLst/>
              <a:rect r="r" b="b" t="t" l="l"/>
              <a:pathLst>
                <a:path h="830165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810140"/>
                  </a:lnTo>
                  <a:cubicBezTo>
                    <a:pt x="1543717" y="815451"/>
                    <a:pt x="1541607" y="820544"/>
                    <a:pt x="1537852" y="824300"/>
                  </a:cubicBezTo>
                  <a:cubicBezTo>
                    <a:pt x="1534096" y="828055"/>
                    <a:pt x="1529002" y="830165"/>
                    <a:pt x="1523691" y="830165"/>
                  </a:cubicBezTo>
                  <a:lnTo>
                    <a:pt x="20026" y="830165"/>
                  </a:lnTo>
                  <a:cubicBezTo>
                    <a:pt x="14715" y="830165"/>
                    <a:pt x="9621" y="828055"/>
                    <a:pt x="5865" y="824300"/>
                  </a:cubicBezTo>
                  <a:cubicBezTo>
                    <a:pt x="2110" y="820544"/>
                    <a:pt x="0" y="815451"/>
                    <a:pt x="0" y="810140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543717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6997" y="234679"/>
            <a:ext cx="1035877" cy="1035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5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0598" y="8930914"/>
            <a:ext cx="15750465" cy="817377"/>
            <a:chOff x="0" y="0"/>
            <a:chExt cx="3500103" cy="1816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0103" cy="181639"/>
            </a:xfrm>
            <a:custGeom>
              <a:avLst/>
              <a:gdLst/>
              <a:ahLst/>
              <a:cxnLst/>
              <a:rect r="r" b="b" t="t" l="l"/>
              <a:pathLst>
                <a:path h="181639" w="3500103">
                  <a:moveTo>
                    <a:pt x="8832" y="0"/>
                  </a:moveTo>
                  <a:lnTo>
                    <a:pt x="3491271" y="0"/>
                  </a:lnTo>
                  <a:cubicBezTo>
                    <a:pt x="3493613" y="0"/>
                    <a:pt x="3495860" y="931"/>
                    <a:pt x="3497516" y="2587"/>
                  </a:cubicBezTo>
                  <a:cubicBezTo>
                    <a:pt x="3499173" y="4243"/>
                    <a:pt x="3500103" y="6490"/>
                    <a:pt x="3500103" y="8832"/>
                  </a:cubicBezTo>
                  <a:lnTo>
                    <a:pt x="3500103" y="172807"/>
                  </a:lnTo>
                  <a:cubicBezTo>
                    <a:pt x="3500103" y="177685"/>
                    <a:pt x="3496149" y="181639"/>
                    <a:pt x="3491271" y="181639"/>
                  </a:cubicBezTo>
                  <a:lnTo>
                    <a:pt x="8832" y="181639"/>
                  </a:lnTo>
                  <a:cubicBezTo>
                    <a:pt x="3954" y="181639"/>
                    <a:pt x="0" y="177685"/>
                    <a:pt x="0" y="172807"/>
                  </a:cubicBezTo>
                  <a:lnTo>
                    <a:pt x="0" y="8832"/>
                  </a:lnTo>
                  <a:cubicBezTo>
                    <a:pt x="0" y="3954"/>
                    <a:pt x="3954" y="0"/>
                    <a:pt x="8832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500103" cy="21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010" y="9133992"/>
            <a:ext cx="173360" cy="186561"/>
            <a:chOff x="0" y="0"/>
            <a:chExt cx="49311" cy="530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2280" y="9133992"/>
            <a:ext cx="173360" cy="186561"/>
            <a:chOff x="0" y="0"/>
            <a:chExt cx="49311" cy="53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49638" y="9124085"/>
            <a:ext cx="173360" cy="186561"/>
            <a:chOff x="0" y="0"/>
            <a:chExt cx="49311" cy="530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01466" y="9133992"/>
            <a:ext cx="173360" cy="186561"/>
            <a:chOff x="0" y="0"/>
            <a:chExt cx="49311" cy="530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570258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4792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9819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824604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8116154" y="3047905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408395" y="2986750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AutoShape 41" id="41"/>
          <p:cNvSpPr/>
          <p:nvPr/>
        </p:nvSpPr>
        <p:spPr>
          <a:xfrm flipV="true">
            <a:off x="9430374" y="2479489"/>
            <a:ext cx="24989" cy="606516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2" id="42"/>
          <p:cNvSpPr/>
          <p:nvPr/>
        </p:nvSpPr>
        <p:spPr>
          <a:xfrm flipV="true">
            <a:off x="9478720" y="3417296"/>
            <a:ext cx="0" cy="609057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3" id="43"/>
          <p:cNvSpPr/>
          <p:nvPr/>
        </p:nvSpPr>
        <p:spPr>
          <a:xfrm flipV="true">
            <a:off x="10496088" y="2534618"/>
            <a:ext cx="0" cy="3935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4" id="44"/>
          <p:cNvSpPr/>
          <p:nvPr/>
        </p:nvSpPr>
        <p:spPr>
          <a:xfrm flipH="true">
            <a:off x="11935859" y="3207741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45" id="45"/>
          <p:cNvSpPr txBox="true"/>
          <p:nvPr/>
        </p:nvSpPr>
        <p:spPr>
          <a:xfrm rot="0">
            <a:off x="11324796" y="3007934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O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0227789" y="3007934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9130781" y="3017459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</a:t>
            </a:r>
          </a:p>
        </p:txBody>
      </p:sp>
      <p:sp>
        <p:nvSpPr>
          <p:cNvPr name="AutoShape 48" id="48"/>
          <p:cNvSpPr/>
          <p:nvPr/>
        </p:nvSpPr>
        <p:spPr>
          <a:xfrm flipH="true">
            <a:off x="10800442" y="3217378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9" id="49"/>
          <p:cNvSpPr/>
          <p:nvPr/>
        </p:nvSpPr>
        <p:spPr>
          <a:xfrm flipH="true">
            <a:off x="9741408" y="3226903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0" id="50"/>
          <p:cNvSpPr/>
          <p:nvPr/>
        </p:nvSpPr>
        <p:spPr>
          <a:xfrm flipH="true">
            <a:off x="8660009" y="3245953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1" id="51"/>
          <p:cNvSpPr/>
          <p:nvPr/>
        </p:nvSpPr>
        <p:spPr>
          <a:xfrm flipV="true">
            <a:off x="10606277" y="2536639"/>
            <a:ext cx="0" cy="393585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2" id="52"/>
          <p:cNvSpPr/>
          <p:nvPr/>
        </p:nvSpPr>
        <p:spPr>
          <a:xfrm flipV="true">
            <a:off x="12732976" y="2412096"/>
            <a:ext cx="10123" cy="612754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3" id="53"/>
          <p:cNvSpPr/>
          <p:nvPr/>
        </p:nvSpPr>
        <p:spPr>
          <a:xfrm flipV="true">
            <a:off x="12711020" y="3428692"/>
            <a:ext cx="0" cy="59766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4" id="54"/>
          <p:cNvSpPr/>
          <p:nvPr/>
        </p:nvSpPr>
        <p:spPr>
          <a:xfrm flipH="true">
            <a:off x="12955418" y="3198328"/>
            <a:ext cx="607298" cy="0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55" id="55"/>
          <p:cNvSpPr/>
          <p:nvPr/>
        </p:nvSpPr>
        <p:spPr>
          <a:xfrm flipH="false" flipV="false" rot="0">
            <a:off x="9089004" y="5664200"/>
            <a:ext cx="4471584" cy="2414655"/>
          </a:xfrm>
          <a:custGeom>
            <a:avLst/>
            <a:gdLst/>
            <a:ahLst/>
            <a:cxnLst/>
            <a:rect r="r" b="b" t="t" l="l"/>
            <a:pathLst>
              <a:path h="2414655" w="4471584">
                <a:moveTo>
                  <a:pt x="0" y="0"/>
                </a:moveTo>
                <a:lnTo>
                  <a:pt x="4471584" y="0"/>
                </a:lnTo>
                <a:lnTo>
                  <a:pt x="4471584" y="2414655"/>
                </a:lnTo>
                <a:lnTo>
                  <a:pt x="0" y="2414655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56" id="56"/>
          <p:cNvSpPr txBox="true"/>
          <p:nvPr/>
        </p:nvSpPr>
        <p:spPr>
          <a:xfrm rot="0">
            <a:off x="2757488" y="359870"/>
            <a:ext cx="9725025" cy="16236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Ethyl acetate [ethyl eth</a:t>
            </a: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anoate] </a:t>
            </a:r>
          </a:p>
          <a:p>
            <a:pPr algn="ctr">
              <a:lnSpc>
                <a:spcPts val="6580"/>
              </a:lnSpc>
            </a:pPr>
          </a:p>
        </p:txBody>
      </p:sp>
      <p:sp>
        <p:nvSpPr>
          <p:cNvPr name="TextBox 57" id="57"/>
          <p:cNvSpPr txBox="true"/>
          <p:nvPr/>
        </p:nvSpPr>
        <p:spPr>
          <a:xfrm rot="0">
            <a:off x="2500678" y="1582383"/>
            <a:ext cx="29192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name="TextBox 58" id="58"/>
          <p:cNvSpPr txBox="true"/>
          <p:nvPr/>
        </p:nvSpPr>
        <p:spPr>
          <a:xfrm rot="0">
            <a:off x="10242440" y="1591908"/>
            <a:ext cx="2232541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name="TextBox 59" id="59"/>
          <p:cNvSpPr txBox="true"/>
          <p:nvPr/>
        </p:nvSpPr>
        <p:spPr>
          <a:xfrm rot="0">
            <a:off x="2247789" y="5080000"/>
            <a:ext cx="342507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 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</p:txBody>
      </p:sp>
      <p:sp>
        <p:nvSpPr>
          <p:cNvPr name="TextBox 60" id="60"/>
          <p:cNvSpPr txBox="true"/>
          <p:nvPr/>
        </p:nvSpPr>
        <p:spPr>
          <a:xfrm rot="0">
            <a:off x="9940855" y="5105400"/>
            <a:ext cx="28357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 </a:t>
            </a:r>
          </a:p>
        </p:txBody>
      </p:sp>
      <p:sp>
        <p:nvSpPr>
          <p:cNvPr name="TextBox 61" id="61"/>
          <p:cNvSpPr txBox="true"/>
          <p:nvPr/>
        </p:nvSpPr>
        <p:spPr>
          <a:xfrm rot="0">
            <a:off x="1588328" y="2766536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C₄H₈O₂</a:t>
            </a:r>
          </a:p>
        </p:txBody>
      </p:sp>
      <p:sp>
        <p:nvSpPr>
          <p:cNvPr name="TextBox 62" id="62"/>
          <p:cNvSpPr txBox="true"/>
          <p:nvPr/>
        </p:nvSpPr>
        <p:spPr>
          <a:xfrm rot="0">
            <a:off x="885825" y="6331697"/>
            <a:ext cx="6176307" cy="93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CH₃COOCH₂CH₃ </a:t>
            </a:r>
          </a:p>
        </p:txBody>
      </p:sp>
      <p:sp>
        <p:nvSpPr>
          <p:cNvPr name="TextBox 63" id="63"/>
          <p:cNvSpPr txBox="true"/>
          <p:nvPr/>
        </p:nvSpPr>
        <p:spPr>
          <a:xfrm rot="0">
            <a:off x="0" y="9018928"/>
            <a:ext cx="31898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VERIFICATION STRIP</a:t>
            </a:r>
          </a:p>
        </p:txBody>
      </p:sp>
      <p:sp>
        <p:nvSpPr>
          <p:cNvPr name="TextBox 64" id="64"/>
          <p:cNvSpPr txBox="true"/>
          <p:nvPr/>
        </p:nvSpPr>
        <p:spPr>
          <a:xfrm rot="0">
            <a:off x="3867039" y="9075443"/>
            <a:ext cx="194869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Atom count verified</a:t>
            </a:r>
          </a:p>
        </p:txBody>
      </p:sp>
      <p:sp>
        <p:nvSpPr>
          <p:cNvPr name="TextBox 65" id="65"/>
          <p:cNvSpPr txBox="true"/>
          <p:nvPr/>
        </p:nvSpPr>
        <p:spPr>
          <a:xfrm rot="0">
            <a:off x="6795273" y="9070998"/>
            <a:ext cx="163651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Valence checked</a:t>
            </a:r>
          </a:p>
        </p:txBody>
      </p:sp>
      <p:sp>
        <p:nvSpPr>
          <p:cNvPr name="TextBox 66" id="66"/>
          <p:cNvSpPr txBox="true"/>
          <p:nvPr/>
        </p:nvSpPr>
        <p:spPr>
          <a:xfrm rot="0">
            <a:off x="9430374" y="9075443"/>
            <a:ext cx="19759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Bond order checked</a:t>
            </a:r>
          </a:p>
        </p:txBody>
      </p:sp>
      <p:sp>
        <p:nvSpPr>
          <p:cNvPr name="TextBox 67" id="67"/>
          <p:cNvSpPr txBox="true"/>
          <p:nvPr/>
        </p:nvSpPr>
        <p:spPr>
          <a:xfrm rot="0">
            <a:off x="12142275" y="9070998"/>
            <a:ext cx="2880598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Same connectivity confirmed</a:t>
            </a:r>
          </a:p>
        </p:txBody>
      </p:sp>
      <p:sp>
        <p:nvSpPr>
          <p:cNvPr name="TextBox 68" id="68"/>
          <p:cNvSpPr txBox="true"/>
          <p:nvPr/>
        </p:nvSpPr>
        <p:spPr>
          <a:xfrm rot="0">
            <a:off x="9553604" y="4307628"/>
            <a:ext cx="3705463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2 lone pairs on each O; none on C or H</a:t>
            </a:r>
          </a:p>
        </p:txBody>
      </p:sp>
      <p:sp>
        <p:nvSpPr>
          <p:cNvPr name="TextBox 69" id="69"/>
          <p:cNvSpPr txBox="true"/>
          <p:nvPr/>
        </p:nvSpPr>
        <p:spPr>
          <a:xfrm rot="0">
            <a:off x="2227251" y="7818343"/>
            <a:ext cx="3466147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is also written as CH₃C(=O)OCH₂CH₃</a:t>
            </a:r>
          </a:p>
        </p:txBody>
      </p:sp>
      <p:sp>
        <p:nvSpPr>
          <p:cNvPr name="TextBox 70" id="70"/>
          <p:cNvSpPr txBox="true"/>
          <p:nvPr/>
        </p:nvSpPr>
        <p:spPr>
          <a:xfrm rot="0">
            <a:off x="10227789" y="2098702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0</a:t>
            </a:r>
          </a:p>
        </p:txBody>
      </p:sp>
      <p:sp>
        <p:nvSpPr>
          <p:cNvPr name="TextBox 71" id="71"/>
          <p:cNvSpPr txBox="true"/>
          <p:nvPr/>
        </p:nvSpPr>
        <p:spPr>
          <a:xfrm rot="0">
            <a:off x="9130781" y="2098702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72" id="72"/>
          <p:cNvSpPr txBox="true"/>
          <p:nvPr/>
        </p:nvSpPr>
        <p:spPr>
          <a:xfrm rot="0">
            <a:off x="9154139" y="3988253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73" id="73"/>
          <p:cNvSpPr txBox="true"/>
          <p:nvPr/>
        </p:nvSpPr>
        <p:spPr>
          <a:xfrm rot="5400000">
            <a:off x="10216569" y="1977429"/>
            <a:ext cx="649163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1"/>
              </a:lnSpc>
            </a:pPr>
            <a:r>
              <a:rPr lang="en-US" sz="39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  <p:sp>
        <p:nvSpPr>
          <p:cNvPr name="TextBox 74" id="74"/>
          <p:cNvSpPr txBox="true"/>
          <p:nvPr/>
        </p:nvSpPr>
        <p:spPr>
          <a:xfrm rot="5400000">
            <a:off x="10617187" y="1972654"/>
            <a:ext cx="649163" cy="6709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541"/>
              </a:lnSpc>
            </a:pPr>
            <a:r>
              <a:rPr lang="en-US" sz="39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  <p:sp>
        <p:nvSpPr>
          <p:cNvPr name="TextBox 75" id="75"/>
          <p:cNvSpPr txBox="true"/>
          <p:nvPr/>
        </p:nvSpPr>
        <p:spPr>
          <a:xfrm rot="0">
            <a:off x="11004156" y="2879507"/>
            <a:ext cx="1290443" cy="7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5"/>
              </a:lnSpc>
            </a:pPr>
            <a:r>
              <a:rPr lang="en-US" sz="4489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  <p:sp>
        <p:nvSpPr>
          <p:cNvPr name="TextBox 76" id="76"/>
          <p:cNvSpPr txBox="true"/>
          <p:nvPr/>
        </p:nvSpPr>
        <p:spPr>
          <a:xfrm rot="0">
            <a:off x="11004156" y="2392711"/>
            <a:ext cx="1290443" cy="76693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85"/>
              </a:lnSpc>
            </a:pPr>
            <a:r>
              <a:rPr lang="en-US" sz="4489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..</a:t>
            </a:r>
          </a:p>
        </p:txBody>
      </p:sp>
      <p:sp>
        <p:nvSpPr>
          <p:cNvPr name="TextBox 77" id="77"/>
          <p:cNvSpPr txBox="true"/>
          <p:nvPr/>
        </p:nvSpPr>
        <p:spPr>
          <a:xfrm rot="0">
            <a:off x="12386438" y="3997778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12408395" y="2031309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3402130" y="2986750"/>
            <a:ext cx="649163" cy="38078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161"/>
              </a:lnSpc>
            </a:pPr>
            <a:r>
              <a:rPr lang="en-US" sz="2258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H</a:t>
            </a: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1878" y="234679"/>
            <a:ext cx="17971628" cy="1028690"/>
            <a:chOff x="0" y="0"/>
            <a:chExt cx="3993695" cy="2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3695" cy="228598"/>
            </a:xfrm>
            <a:custGeom>
              <a:avLst/>
              <a:gdLst/>
              <a:ahLst/>
              <a:cxnLst/>
              <a:rect r="r" b="b" t="t" l="l"/>
              <a:pathLst>
                <a:path h="228598" w="3993695">
                  <a:moveTo>
                    <a:pt x="7741" y="0"/>
                  </a:moveTo>
                  <a:lnTo>
                    <a:pt x="3985955" y="0"/>
                  </a:lnTo>
                  <a:cubicBezTo>
                    <a:pt x="3990230" y="0"/>
                    <a:pt x="3993695" y="3466"/>
                    <a:pt x="3993695" y="7741"/>
                  </a:cubicBezTo>
                  <a:lnTo>
                    <a:pt x="3993695" y="220857"/>
                  </a:lnTo>
                  <a:cubicBezTo>
                    <a:pt x="3993695" y="222910"/>
                    <a:pt x="3992880" y="224879"/>
                    <a:pt x="3991428" y="226331"/>
                  </a:cubicBezTo>
                  <a:cubicBezTo>
                    <a:pt x="3989977" y="227782"/>
                    <a:pt x="3988008" y="228598"/>
                    <a:pt x="3985955" y="228598"/>
                  </a:cubicBezTo>
                  <a:lnTo>
                    <a:pt x="7741" y="228598"/>
                  </a:lnTo>
                  <a:cubicBezTo>
                    <a:pt x="3466" y="228598"/>
                    <a:pt x="0" y="225132"/>
                    <a:pt x="0" y="220857"/>
                  </a:cubicBezTo>
                  <a:lnTo>
                    <a:pt x="0" y="7741"/>
                  </a:lnTo>
                  <a:cubicBezTo>
                    <a:pt x="0" y="3466"/>
                    <a:pt x="3466" y="0"/>
                    <a:pt x="7741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93695" cy="257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013" y="1434603"/>
            <a:ext cx="6989574" cy="3350992"/>
            <a:chOff x="0" y="0"/>
            <a:chExt cx="1553239" cy="744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239" cy="744665"/>
            </a:xfrm>
            <a:custGeom>
              <a:avLst/>
              <a:gdLst/>
              <a:ahLst/>
              <a:cxnLst/>
              <a:rect r="r" b="b" t="t" l="l"/>
              <a:pathLst>
                <a:path h="7446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724762"/>
                  </a:lnTo>
                  <a:cubicBezTo>
                    <a:pt x="1553239" y="730041"/>
                    <a:pt x="1551142" y="735103"/>
                    <a:pt x="1547409" y="738836"/>
                  </a:cubicBezTo>
                  <a:cubicBezTo>
                    <a:pt x="1543677" y="742568"/>
                    <a:pt x="1538614" y="744665"/>
                    <a:pt x="1533336" y="744665"/>
                  </a:cubicBezTo>
                  <a:lnTo>
                    <a:pt x="19903" y="744665"/>
                  </a:lnTo>
                  <a:cubicBezTo>
                    <a:pt x="14624" y="744665"/>
                    <a:pt x="9562" y="742568"/>
                    <a:pt x="5829" y="738836"/>
                  </a:cubicBezTo>
                  <a:cubicBezTo>
                    <a:pt x="2097" y="735103"/>
                    <a:pt x="0" y="730041"/>
                    <a:pt x="0" y="7247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53239" cy="77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85348" y="1434603"/>
            <a:ext cx="6946726" cy="3327897"/>
            <a:chOff x="0" y="0"/>
            <a:chExt cx="1543717" cy="739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3717" cy="739533"/>
            </a:xfrm>
            <a:custGeom>
              <a:avLst/>
              <a:gdLst/>
              <a:ahLst/>
              <a:cxnLst/>
              <a:rect r="r" b="b" t="t" l="l"/>
              <a:pathLst>
                <a:path h="739533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719507"/>
                  </a:lnTo>
                  <a:cubicBezTo>
                    <a:pt x="1543717" y="724818"/>
                    <a:pt x="1541607" y="729912"/>
                    <a:pt x="1537852" y="733667"/>
                  </a:cubicBezTo>
                  <a:cubicBezTo>
                    <a:pt x="1534096" y="737423"/>
                    <a:pt x="1529002" y="739533"/>
                    <a:pt x="1523691" y="739533"/>
                  </a:cubicBezTo>
                  <a:lnTo>
                    <a:pt x="20026" y="739533"/>
                  </a:lnTo>
                  <a:cubicBezTo>
                    <a:pt x="14715" y="739533"/>
                    <a:pt x="9621" y="737423"/>
                    <a:pt x="5865" y="733667"/>
                  </a:cubicBezTo>
                  <a:cubicBezTo>
                    <a:pt x="2110" y="729912"/>
                    <a:pt x="0" y="724818"/>
                    <a:pt x="0" y="719507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43717" cy="76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538" y="4924425"/>
            <a:ext cx="6989574" cy="3735744"/>
            <a:chOff x="0" y="0"/>
            <a:chExt cx="1553239" cy="8301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3239" cy="830165"/>
            </a:xfrm>
            <a:custGeom>
              <a:avLst/>
              <a:gdLst/>
              <a:ahLst/>
              <a:cxnLst/>
              <a:rect r="r" b="b" t="t" l="l"/>
              <a:pathLst>
                <a:path h="8301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810262"/>
                  </a:lnTo>
                  <a:cubicBezTo>
                    <a:pt x="1553239" y="815541"/>
                    <a:pt x="1551142" y="820603"/>
                    <a:pt x="1547409" y="824336"/>
                  </a:cubicBezTo>
                  <a:cubicBezTo>
                    <a:pt x="1543677" y="828068"/>
                    <a:pt x="1538614" y="830165"/>
                    <a:pt x="1533336" y="830165"/>
                  </a:cubicBezTo>
                  <a:lnTo>
                    <a:pt x="19903" y="830165"/>
                  </a:lnTo>
                  <a:cubicBezTo>
                    <a:pt x="14624" y="830165"/>
                    <a:pt x="9562" y="828068"/>
                    <a:pt x="5829" y="824336"/>
                  </a:cubicBezTo>
                  <a:cubicBezTo>
                    <a:pt x="2097" y="820603"/>
                    <a:pt x="0" y="815541"/>
                    <a:pt x="0" y="8102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553239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5348" y="4924425"/>
            <a:ext cx="6946726" cy="3735744"/>
            <a:chOff x="0" y="0"/>
            <a:chExt cx="1543717" cy="8301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3717" cy="830165"/>
            </a:xfrm>
            <a:custGeom>
              <a:avLst/>
              <a:gdLst/>
              <a:ahLst/>
              <a:cxnLst/>
              <a:rect r="r" b="b" t="t" l="l"/>
              <a:pathLst>
                <a:path h="830165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810140"/>
                  </a:lnTo>
                  <a:cubicBezTo>
                    <a:pt x="1543717" y="815451"/>
                    <a:pt x="1541607" y="820544"/>
                    <a:pt x="1537852" y="824300"/>
                  </a:cubicBezTo>
                  <a:cubicBezTo>
                    <a:pt x="1534096" y="828055"/>
                    <a:pt x="1529002" y="830165"/>
                    <a:pt x="1523691" y="830165"/>
                  </a:cubicBezTo>
                  <a:lnTo>
                    <a:pt x="20026" y="830165"/>
                  </a:lnTo>
                  <a:cubicBezTo>
                    <a:pt x="14715" y="830165"/>
                    <a:pt x="9621" y="828055"/>
                    <a:pt x="5865" y="824300"/>
                  </a:cubicBezTo>
                  <a:cubicBezTo>
                    <a:pt x="2110" y="820544"/>
                    <a:pt x="0" y="815451"/>
                    <a:pt x="0" y="810140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543717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6997" y="234679"/>
            <a:ext cx="1035877" cy="1035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6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0598" y="8930914"/>
            <a:ext cx="15750465" cy="817377"/>
            <a:chOff x="0" y="0"/>
            <a:chExt cx="3500103" cy="1816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0103" cy="181639"/>
            </a:xfrm>
            <a:custGeom>
              <a:avLst/>
              <a:gdLst/>
              <a:ahLst/>
              <a:cxnLst/>
              <a:rect r="r" b="b" t="t" l="l"/>
              <a:pathLst>
                <a:path h="181639" w="3500103">
                  <a:moveTo>
                    <a:pt x="8832" y="0"/>
                  </a:moveTo>
                  <a:lnTo>
                    <a:pt x="3491271" y="0"/>
                  </a:lnTo>
                  <a:cubicBezTo>
                    <a:pt x="3493613" y="0"/>
                    <a:pt x="3495860" y="931"/>
                    <a:pt x="3497516" y="2587"/>
                  </a:cubicBezTo>
                  <a:cubicBezTo>
                    <a:pt x="3499173" y="4243"/>
                    <a:pt x="3500103" y="6490"/>
                    <a:pt x="3500103" y="8832"/>
                  </a:cubicBezTo>
                  <a:lnTo>
                    <a:pt x="3500103" y="172807"/>
                  </a:lnTo>
                  <a:cubicBezTo>
                    <a:pt x="3500103" y="177685"/>
                    <a:pt x="3496149" y="181639"/>
                    <a:pt x="3491271" y="181639"/>
                  </a:cubicBezTo>
                  <a:lnTo>
                    <a:pt x="8832" y="181639"/>
                  </a:lnTo>
                  <a:cubicBezTo>
                    <a:pt x="3954" y="181639"/>
                    <a:pt x="0" y="177685"/>
                    <a:pt x="0" y="172807"/>
                  </a:cubicBezTo>
                  <a:lnTo>
                    <a:pt x="0" y="8832"/>
                  </a:lnTo>
                  <a:cubicBezTo>
                    <a:pt x="0" y="3954"/>
                    <a:pt x="3954" y="0"/>
                    <a:pt x="8832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500103" cy="21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010" y="9133992"/>
            <a:ext cx="173360" cy="186561"/>
            <a:chOff x="0" y="0"/>
            <a:chExt cx="49311" cy="530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2280" y="9133992"/>
            <a:ext cx="173360" cy="186561"/>
            <a:chOff x="0" y="0"/>
            <a:chExt cx="49311" cy="53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49638" y="9124085"/>
            <a:ext cx="173360" cy="186561"/>
            <a:chOff x="0" y="0"/>
            <a:chExt cx="49311" cy="530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01466" y="9133992"/>
            <a:ext cx="173360" cy="186561"/>
            <a:chOff x="0" y="0"/>
            <a:chExt cx="49311" cy="530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570258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4792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9819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824604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39" id="39"/>
          <p:cNvGrpSpPr/>
          <p:nvPr/>
        </p:nvGrpSpPr>
        <p:grpSpPr>
          <a:xfrm rot="0">
            <a:off x="9787929" y="1931632"/>
            <a:ext cx="3141564" cy="2474913"/>
            <a:chOff x="0" y="0"/>
            <a:chExt cx="4188752" cy="3299884"/>
          </a:xfrm>
        </p:grpSpPr>
        <p:sp>
          <p:nvSpPr>
            <p:cNvPr name="TextBox 40" id="40"/>
            <p:cNvSpPr txBox="true"/>
            <p:nvPr/>
          </p:nvSpPr>
          <p:spPr>
            <a:xfrm rot="0">
              <a:off x="0" y="992313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41" id="41"/>
            <p:cNvSpPr txBox="true"/>
            <p:nvPr/>
          </p:nvSpPr>
          <p:spPr>
            <a:xfrm rot="0">
              <a:off x="2518585" y="940959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2" id="42"/>
            <p:cNvSpPr/>
            <p:nvPr/>
          </p:nvSpPr>
          <p:spPr>
            <a:xfrm flipV="true">
              <a:off x="1230506" y="1404300"/>
              <a:ext cx="0" cy="338122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1263347" y="2817801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44" id="44"/>
            <p:cNvSpPr txBox="true"/>
            <p:nvPr/>
          </p:nvSpPr>
          <p:spPr>
            <a:xfrm rot="0">
              <a:off x="1695577" y="624642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5" id="45"/>
            <p:cNvSpPr txBox="true"/>
            <p:nvPr/>
          </p:nvSpPr>
          <p:spPr>
            <a:xfrm rot="0">
              <a:off x="819002" y="922217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6" id="46"/>
            <p:cNvSpPr/>
            <p:nvPr/>
          </p:nvSpPr>
          <p:spPr>
            <a:xfrm flipH="true" flipV="true">
              <a:off x="2356520" y="910494"/>
              <a:ext cx="382254" cy="217229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>
              <a:off x="663610" y="1176290"/>
              <a:ext cx="363289" cy="40305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8" id="48"/>
            <p:cNvSpPr txBox="true"/>
            <p:nvPr/>
          </p:nvSpPr>
          <p:spPr>
            <a:xfrm rot="0">
              <a:off x="1397488" y="-41907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49" id="49"/>
            <p:cNvSpPr txBox="true"/>
            <p:nvPr/>
          </p:nvSpPr>
          <p:spPr>
            <a:xfrm rot="0">
              <a:off x="452415" y="222092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819002" y="1694797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2518585" y="1694797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2" id="52"/>
            <p:cNvSpPr/>
            <p:nvPr/>
          </p:nvSpPr>
          <p:spPr>
            <a:xfrm flipV="true">
              <a:off x="1504695" y="910467"/>
              <a:ext cx="381765" cy="218087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V="true">
              <a:off x="2352011" y="2128193"/>
              <a:ext cx="388682" cy="205506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H="true" flipV="true">
              <a:off x="1504450" y="2142900"/>
              <a:ext cx="382254" cy="217229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5" id="55"/>
            <p:cNvSpPr txBox="true"/>
            <p:nvPr/>
          </p:nvSpPr>
          <p:spPr>
            <a:xfrm rot="0">
              <a:off x="1695577" y="2202206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6" id="56"/>
            <p:cNvSpPr/>
            <p:nvPr/>
          </p:nvSpPr>
          <p:spPr>
            <a:xfrm flipV="true">
              <a:off x="2930089" y="1404300"/>
              <a:ext cx="0" cy="338122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 flipH="true" flipV="true">
              <a:off x="999569" y="704175"/>
              <a:ext cx="150236" cy="265667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8" id="58"/>
            <p:cNvSpPr txBox="true"/>
            <p:nvPr/>
          </p:nvSpPr>
          <p:spPr>
            <a:xfrm rot="0">
              <a:off x="2067199" y="-47625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59" id="59"/>
            <p:cNvSpPr/>
            <p:nvPr/>
          </p:nvSpPr>
          <p:spPr>
            <a:xfrm flipH="true" flipV="true">
              <a:off x="1886460" y="440176"/>
              <a:ext cx="171259" cy="265667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0" id="60"/>
            <p:cNvSpPr/>
            <p:nvPr/>
          </p:nvSpPr>
          <p:spPr>
            <a:xfrm flipV="true">
              <a:off x="2218043" y="434458"/>
              <a:ext cx="170195" cy="257102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1" id="61"/>
            <p:cNvSpPr txBox="true"/>
            <p:nvPr/>
          </p:nvSpPr>
          <p:spPr>
            <a:xfrm rot="0">
              <a:off x="2867139" y="259353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62" id="62"/>
            <p:cNvSpPr/>
            <p:nvPr/>
          </p:nvSpPr>
          <p:spPr>
            <a:xfrm flipV="true">
              <a:off x="3062091" y="741436"/>
              <a:ext cx="174060" cy="301482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3" id="63"/>
            <p:cNvSpPr txBox="true"/>
            <p:nvPr/>
          </p:nvSpPr>
          <p:spPr>
            <a:xfrm rot="0">
              <a:off x="3365744" y="992313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64" id="64"/>
            <p:cNvSpPr/>
            <p:nvPr/>
          </p:nvSpPr>
          <p:spPr>
            <a:xfrm>
              <a:off x="3136340" y="1191176"/>
              <a:ext cx="404085" cy="61887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5" id="65"/>
            <p:cNvSpPr txBox="true"/>
            <p:nvPr/>
          </p:nvSpPr>
          <p:spPr>
            <a:xfrm rot="0">
              <a:off x="3236151" y="1625288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6" id="66"/>
            <p:cNvSpPr txBox="true"/>
            <p:nvPr/>
          </p:nvSpPr>
          <p:spPr>
            <a:xfrm rot="0">
              <a:off x="2954240" y="2299326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67" id="67"/>
            <p:cNvSpPr/>
            <p:nvPr/>
          </p:nvSpPr>
          <p:spPr>
            <a:xfrm flipH="true">
              <a:off x="3136340" y="1890142"/>
              <a:ext cx="332237" cy="32390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8" id="68"/>
            <p:cNvSpPr/>
            <p:nvPr/>
          </p:nvSpPr>
          <p:spPr>
            <a:xfrm flipH="true" flipV="true">
              <a:off x="3031164" y="2132261"/>
              <a:ext cx="175926" cy="258497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9" id="69"/>
            <p:cNvSpPr/>
            <p:nvPr/>
          </p:nvSpPr>
          <p:spPr>
            <a:xfrm flipH="true" flipV="true">
              <a:off x="2228719" y="2647883"/>
              <a:ext cx="127800" cy="248180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0" id="70"/>
            <p:cNvSpPr/>
            <p:nvPr/>
          </p:nvSpPr>
          <p:spPr>
            <a:xfrm flipV="true">
              <a:off x="1849278" y="2661215"/>
              <a:ext cx="170195" cy="257102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1" id="71"/>
            <p:cNvSpPr txBox="true"/>
            <p:nvPr/>
          </p:nvSpPr>
          <p:spPr>
            <a:xfrm rot="0">
              <a:off x="2086355" y="2817801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72" id="72"/>
            <p:cNvSpPr/>
            <p:nvPr/>
          </p:nvSpPr>
          <p:spPr>
            <a:xfrm>
              <a:off x="695990" y="1940119"/>
              <a:ext cx="335857" cy="39065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3" id="73"/>
            <p:cNvSpPr txBox="true"/>
            <p:nvPr/>
          </p:nvSpPr>
          <p:spPr>
            <a:xfrm rot="0">
              <a:off x="65029" y="1675264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74" id="74"/>
            <p:cNvSpPr/>
            <p:nvPr/>
          </p:nvSpPr>
          <p:spPr>
            <a:xfrm flipV="true">
              <a:off x="1021232" y="2187557"/>
              <a:ext cx="149477" cy="303287"/>
            </a:xfrm>
            <a:prstGeom prst="line">
              <a:avLst/>
            </a:prstGeom>
            <a:ln cap="flat" w="48303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5" id="75"/>
            <p:cNvSpPr txBox="true"/>
            <p:nvPr/>
          </p:nvSpPr>
          <p:spPr>
            <a:xfrm rot="0">
              <a:off x="531164" y="2443219"/>
              <a:ext cx="823008" cy="482083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006"/>
                </a:lnSpc>
              </a:pPr>
              <a:r>
                <a:rPr lang="en-US" sz="214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</p:grpSp>
      <p:sp>
        <p:nvSpPr>
          <p:cNvPr name="Freeform 76" id="76"/>
          <p:cNvSpPr/>
          <p:nvPr/>
        </p:nvSpPr>
        <p:spPr>
          <a:xfrm flipH="false" flipV="false" rot="0">
            <a:off x="10173402" y="5626100"/>
            <a:ext cx="2370617" cy="2716332"/>
          </a:xfrm>
          <a:custGeom>
            <a:avLst/>
            <a:gdLst/>
            <a:ahLst/>
            <a:cxnLst/>
            <a:rect r="r" b="b" t="t" l="l"/>
            <a:pathLst>
              <a:path h="2716332" w="2370617">
                <a:moveTo>
                  <a:pt x="0" y="0"/>
                </a:moveTo>
                <a:lnTo>
                  <a:pt x="2370617" y="0"/>
                </a:lnTo>
                <a:lnTo>
                  <a:pt x="2370617" y="2716331"/>
                </a:lnTo>
                <a:lnTo>
                  <a:pt x="0" y="271633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7" id="77"/>
          <p:cNvSpPr txBox="true"/>
          <p:nvPr/>
        </p:nvSpPr>
        <p:spPr>
          <a:xfrm rot="0">
            <a:off x="5548789" y="359870"/>
            <a:ext cx="4142422" cy="79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Cyclohexane </a:t>
            </a:r>
          </a:p>
        </p:txBody>
      </p:sp>
      <p:sp>
        <p:nvSpPr>
          <p:cNvPr name="TextBox 78" id="78"/>
          <p:cNvSpPr txBox="true"/>
          <p:nvPr/>
        </p:nvSpPr>
        <p:spPr>
          <a:xfrm rot="0">
            <a:off x="2500678" y="1582383"/>
            <a:ext cx="29192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name="TextBox 79" id="79"/>
          <p:cNvSpPr txBox="true"/>
          <p:nvPr/>
        </p:nvSpPr>
        <p:spPr>
          <a:xfrm rot="0">
            <a:off x="10242440" y="1591908"/>
            <a:ext cx="2232541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name="TextBox 80" id="80"/>
          <p:cNvSpPr txBox="true"/>
          <p:nvPr/>
        </p:nvSpPr>
        <p:spPr>
          <a:xfrm rot="0">
            <a:off x="2247789" y="5080000"/>
            <a:ext cx="342507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 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9940855" y="5105400"/>
            <a:ext cx="28357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 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1588328" y="2766536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C₆H₁₂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885825" y="6331697"/>
            <a:ext cx="6176307" cy="93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(CH₂)₆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0" y="9018928"/>
            <a:ext cx="31898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VERIFICATION STRIP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3867039" y="9075443"/>
            <a:ext cx="194869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Atom count verified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6795273" y="9070998"/>
            <a:ext cx="163651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Valence checked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430374" y="9075443"/>
            <a:ext cx="19759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Bond order checked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2142275" y="9070998"/>
            <a:ext cx="2880598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Same connectivity confirmed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8725861" y="4397020"/>
            <a:ext cx="5223748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 No lone pairs; every C has 2 ring bonds + 2 C-H bonds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2514787" y="7818343"/>
            <a:ext cx="289107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six CH₂ joined in a ring (cyclic)</a:t>
            </a: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1878" y="234679"/>
            <a:ext cx="17971628" cy="1028690"/>
            <a:chOff x="0" y="0"/>
            <a:chExt cx="3993695" cy="2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3695" cy="228598"/>
            </a:xfrm>
            <a:custGeom>
              <a:avLst/>
              <a:gdLst/>
              <a:ahLst/>
              <a:cxnLst/>
              <a:rect r="r" b="b" t="t" l="l"/>
              <a:pathLst>
                <a:path h="228598" w="3993695">
                  <a:moveTo>
                    <a:pt x="7741" y="0"/>
                  </a:moveTo>
                  <a:lnTo>
                    <a:pt x="3985955" y="0"/>
                  </a:lnTo>
                  <a:cubicBezTo>
                    <a:pt x="3990230" y="0"/>
                    <a:pt x="3993695" y="3466"/>
                    <a:pt x="3993695" y="7741"/>
                  </a:cubicBezTo>
                  <a:lnTo>
                    <a:pt x="3993695" y="220857"/>
                  </a:lnTo>
                  <a:cubicBezTo>
                    <a:pt x="3993695" y="222910"/>
                    <a:pt x="3992880" y="224879"/>
                    <a:pt x="3991428" y="226331"/>
                  </a:cubicBezTo>
                  <a:cubicBezTo>
                    <a:pt x="3989977" y="227782"/>
                    <a:pt x="3988008" y="228598"/>
                    <a:pt x="3985955" y="228598"/>
                  </a:cubicBezTo>
                  <a:lnTo>
                    <a:pt x="7741" y="228598"/>
                  </a:lnTo>
                  <a:cubicBezTo>
                    <a:pt x="3466" y="228598"/>
                    <a:pt x="0" y="225132"/>
                    <a:pt x="0" y="220857"/>
                  </a:cubicBezTo>
                  <a:lnTo>
                    <a:pt x="0" y="7741"/>
                  </a:lnTo>
                  <a:cubicBezTo>
                    <a:pt x="0" y="3466"/>
                    <a:pt x="3466" y="0"/>
                    <a:pt x="7741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93695" cy="257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013" y="1434603"/>
            <a:ext cx="6989574" cy="3350992"/>
            <a:chOff x="0" y="0"/>
            <a:chExt cx="1553239" cy="744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239" cy="744665"/>
            </a:xfrm>
            <a:custGeom>
              <a:avLst/>
              <a:gdLst/>
              <a:ahLst/>
              <a:cxnLst/>
              <a:rect r="r" b="b" t="t" l="l"/>
              <a:pathLst>
                <a:path h="7446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724762"/>
                  </a:lnTo>
                  <a:cubicBezTo>
                    <a:pt x="1553239" y="730041"/>
                    <a:pt x="1551142" y="735103"/>
                    <a:pt x="1547409" y="738836"/>
                  </a:cubicBezTo>
                  <a:cubicBezTo>
                    <a:pt x="1543677" y="742568"/>
                    <a:pt x="1538614" y="744665"/>
                    <a:pt x="1533336" y="744665"/>
                  </a:cubicBezTo>
                  <a:lnTo>
                    <a:pt x="19903" y="744665"/>
                  </a:lnTo>
                  <a:cubicBezTo>
                    <a:pt x="14624" y="744665"/>
                    <a:pt x="9562" y="742568"/>
                    <a:pt x="5829" y="738836"/>
                  </a:cubicBezTo>
                  <a:cubicBezTo>
                    <a:pt x="2097" y="735103"/>
                    <a:pt x="0" y="730041"/>
                    <a:pt x="0" y="7247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53239" cy="77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85348" y="1434603"/>
            <a:ext cx="6946726" cy="3327897"/>
            <a:chOff x="0" y="0"/>
            <a:chExt cx="1543717" cy="739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3717" cy="739533"/>
            </a:xfrm>
            <a:custGeom>
              <a:avLst/>
              <a:gdLst/>
              <a:ahLst/>
              <a:cxnLst/>
              <a:rect r="r" b="b" t="t" l="l"/>
              <a:pathLst>
                <a:path h="739533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719507"/>
                  </a:lnTo>
                  <a:cubicBezTo>
                    <a:pt x="1543717" y="724818"/>
                    <a:pt x="1541607" y="729912"/>
                    <a:pt x="1537852" y="733667"/>
                  </a:cubicBezTo>
                  <a:cubicBezTo>
                    <a:pt x="1534096" y="737423"/>
                    <a:pt x="1529002" y="739533"/>
                    <a:pt x="1523691" y="739533"/>
                  </a:cubicBezTo>
                  <a:lnTo>
                    <a:pt x="20026" y="739533"/>
                  </a:lnTo>
                  <a:cubicBezTo>
                    <a:pt x="14715" y="739533"/>
                    <a:pt x="9621" y="737423"/>
                    <a:pt x="5865" y="733667"/>
                  </a:cubicBezTo>
                  <a:cubicBezTo>
                    <a:pt x="2110" y="729912"/>
                    <a:pt x="0" y="724818"/>
                    <a:pt x="0" y="719507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43717" cy="76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538" y="4924425"/>
            <a:ext cx="6989574" cy="3735744"/>
            <a:chOff x="0" y="0"/>
            <a:chExt cx="1553239" cy="8301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3239" cy="830165"/>
            </a:xfrm>
            <a:custGeom>
              <a:avLst/>
              <a:gdLst/>
              <a:ahLst/>
              <a:cxnLst/>
              <a:rect r="r" b="b" t="t" l="l"/>
              <a:pathLst>
                <a:path h="8301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810262"/>
                  </a:lnTo>
                  <a:cubicBezTo>
                    <a:pt x="1553239" y="815541"/>
                    <a:pt x="1551142" y="820603"/>
                    <a:pt x="1547409" y="824336"/>
                  </a:cubicBezTo>
                  <a:cubicBezTo>
                    <a:pt x="1543677" y="828068"/>
                    <a:pt x="1538614" y="830165"/>
                    <a:pt x="1533336" y="830165"/>
                  </a:cubicBezTo>
                  <a:lnTo>
                    <a:pt x="19903" y="830165"/>
                  </a:lnTo>
                  <a:cubicBezTo>
                    <a:pt x="14624" y="830165"/>
                    <a:pt x="9562" y="828068"/>
                    <a:pt x="5829" y="824336"/>
                  </a:cubicBezTo>
                  <a:cubicBezTo>
                    <a:pt x="2097" y="820603"/>
                    <a:pt x="0" y="815541"/>
                    <a:pt x="0" y="8102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553239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5348" y="4924425"/>
            <a:ext cx="6946726" cy="3735744"/>
            <a:chOff x="0" y="0"/>
            <a:chExt cx="1543717" cy="8301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3717" cy="830165"/>
            </a:xfrm>
            <a:custGeom>
              <a:avLst/>
              <a:gdLst/>
              <a:ahLst/>
              <a:cxnLst/>
              <a:rect r="r" b="b" t="t" l="l"/>
              <a:pathLst>
                <a:path h="830165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810140"/>
                  </a:lnTo>
                  <a:cubicBezTo>
                    <a:pt x="1543717" y="815451"/>
                    <a:pt x="1541607" y="820544"/>
                    <a:pt x="1537852" y="824300"/>
                  </a:cubicBezTo>
                  <a:cubicBezTo>
                    <a:pt x="1534096" y="828055"/>
                    <a:pt x="1529002" y="830165"/>
                    <a:pt x="1523691" y="830165"/>
                  </a:cubicBezTo>
                  <a:lnTo>
                    <a:pt x="20026" y="830165"/>
                  </a:lnTo>
                  <a:cubicBezTo>
                    <a:pt x="14715" y="830165"/>
                    <a:pt x="9621" y="828055"/>
                    <a:pt x="5865" y="824300"/>
                  </a:cubicBezTo>
                  <a:cubicBezTo>
                    <a:pt x="2110" y="820544"/>
                    <a:pt x="0" y="815451"/>
                    <a:pt x="0" y="810140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543717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6997" y="234679"/>
            <a:ext cx="1035877" cy="1035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7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0598" y="8930914"/>
            <a:ext cx="15750465" cy="817377"/>
            <a:chOff x="0" y="0"/>
            <a:chExt cx="3500103" cy="1816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0103" cy="181639"/>
            </a:xfrm>
            <a:custGeom>
              <a:avLst/>
              <a:gdLst/>
              <a:ahLst/>
              <a:cxnLst/>
              <a:rect r="r" b="b" t="t" l="l"/>
              <a:pathLst>
                <a:path h="181639" w="3500103">
                  <a:moveTo>
                    <a:pt x="8832" y="0"/>
                  </a:moveTo>
                  <a:lnTo>
                    <a:pt x="3491271" y="0"/>
                  </a:lnTo>
                  <a:cubicBezTo>
                    <a:pt x="3493613" y="0"/>
                    <a:pt x="3495860" y="931"/>
                    <a:pt x="3497516" y="2587"/>
                  </a:cubicBezTo>
                  <a:cubicBezTo>
                    <a:pt x="3499173" y="4243"/>
                    <a:pt x="3500103" y="6490"/>
                    <a:pt x="3500103" y="8832"/>
                  </a:cubicBezTo>
                  <a:lnTo>
                    <a:pt x="3500103" y="172807"/>
                  </a:lnTo>
                  <a:cubicBezTo>
                    <a:pt x="3500103" y="177685"/>
                    <a:pt x="3496149" y="181639"/>
                    <a:pt x="3491271" y="181639"/>
                  </a:cubicBezTo>
                  <a:lnTo>
                    <a:pt x="8832" y="181639"/>
                  </a:lnTo>
                  <a:cubicBezTo>
                    <a:pt x="3954" y="181639"/>
                    <a:pt x="0" y="177685"/>
                    <a:pt x="0" y="172807"/>
                  </a:cubicBezTo>
                  <a:lnTo>
                    <a:pt x="0" y="8832"/>
                  </a:lnTo>
                  <a:cubicBezTo>
                    <a:pt x="0" y="3954"/>
                    <a:pt x="3954" y="0"/>
                    <a:pt x="8832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500103" cy="21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010" y="9133992"/>
            <a:ext cx="173360" cy="186561"/>
            <a:chOff x="0" y="0"/>
            <a:chExt cx="49311" cy="530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2280" y="9133992"/>
            <a:ext cx="173360" cy="186561"/>
            <a:chOff x="0" y="0"/>
            <a:chExt cx="49311" cy="53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49638" y="9124085"/>
            <a:ext cx="173360" cy="186561"/>
            <a:chOff x="0" y="0"/>
            <a:chExt cx="49311" cy="530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01466" y="9133992"/>
            <a:ext cx="173360" cy="186561"/>
            <a:chOff x="0" y="0"/>
            <a:chExt cx="49311" cy="530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570258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4792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9819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824604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0242440" y="1591908"/>
            <a:ext cx="2232541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12547870" y="2196821"/>
            <a:ext cx="2069408" cy="5403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2 lone pairs on O; none on C or H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858970" y="1436564"/>
            <a:ext cx="2968705" cy="3087811"/>
            <a:chOff x="0" y="0"/>
            <a:chExt cx="3958273" cy="4117081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0" y="1933860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43" id="43"/>
            <p:cNvSpPr txBox="true"/>
            <p:nvPr/>
          </p:nvSpPr>
          <p:spPr>
            <a:xfrm rot="0">
              <a:off x="2380004" y="1885331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4" id="44"/>
            <p:cNvSpPr/>
            <p:nvPr/>
          </p:nvSpPr>
          <p:spPr>
            <a:xfrm flipV="true">
              <a:off x="1162800" y="2325798"/>
              <a:ext cx="0" cy="319517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5" id="45"/>
            <p:cNvSpPr txBox="true"/>
            <p:nvPr/>
          </p:nvSpPr>
          <p:spPr>
            <a:xfrm rot="0">
              <a:off x="1193834" y="3658903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46" id="46"/>
            <p:cNvSpPr txBox="true"/>
            <p:nvPr/>
          </p:nvSpPr>
          <p:spPr>
            <a:xfrm rot="0">
              <a:off x="1602281" y="1592671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773938" y="1867620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8" id="48"/>
            <p:cNvSpPr/>
            <p:nvPr/>
          </p:nvSpPr>
          <p:spPr>
            <a:xfrm flipH="true" flipV="true">
              <a:off x="2226856" y="1859163"/>
              <a:ext cx="361221" cy="205276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9" id="49"/>
            <p:cNvSpPr/>
            <p:nvPr/>
          </p:nvSpPr>
          <p:spPr>
            <a:xfrm flipH="true">
              <a:off x="627096" y="2110334"/>
              <a:ext cx="343300" cy="38087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427522" y="1206018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1" id="51"/>
            <p:cNvSpPr txBox="true"/>
            <p:nvPr/>
          </p:nvSpPr>
          <p:spPr>
            <a:xfrm rot="0">
              <a:off x="773938" y="2597690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52" id="52"/>
            <p:cNvSpPr txBox="true"/>
            <p:nvPr/>
          </p:nvSpPr>
          <p:spPr>
            <a:xfrm rot="0">
              <a:off x="2380004" y="2597690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3" id="53"/>
            <p:cNvSpPr/>
            <p:nvPr/>
          </p:nvSpPr>
          <p:spPr>
            <a:xfrm flipV="true">
              <a:off x="1421902" y="1859137"/>
              <a:ext cx="360759" cy="206088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V="true">
              <a:off x="2222596" y="3009860"/>
              <a:ext cx="367296" cy="194198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flipH="true" flipV="true">
              <a:off x="1421671" y="3023758"/>
              <a:ext cx="361221" cy="205276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6" id="56"/>
            <p:cNvSpPr txBox="true"/>
            <p:nvPr/>
          </p:nvSpPr>
          <p:spPr>
            <a:xfrm rot="0">
              <a:off x="1602281" y="3077180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7" id="57"/>
            <p:cNvSpPr/>
            <p:nvPr/>
          </p:nvSpPr>
          <p:spPr>
            <a:xfrm flipV="true">
              <a:off x="2768866" y="2325798"/>
              <a:ext cx="0" cy="319517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8" id="58"/>
            <p:cNvSpPr/>
            <p:nvPr/>
          </p:nvSpPr>
          <p:spPr>
            <a:xfrm flipH="true" flipV="true">
              <a:off x="944569" y="1664196"/>
              <a:ext cx="141969" cy="251049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9" id="59"/>
            <p:cNvSpPr/>
            <p:nvPr/>
          </p:nvSpPr>
          <p:spPr>
            <a:xfrm flipV="true">
              <a:off x="1969034" y="1141632"/>
              <a:ext cx="0" cy="498665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0" id="60"/>
            <p:cNvSpPr txBox="true"/>
            <p:nvPr/>
          </p:nvSpPr>
          <p:spPr>
            <a:xfrm rot="0">
              <a:off x="2709379" y="1241229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61" id="61"/>
            <p:cNvSpPr/>
            <p:nvPr/>
          </p:nvSpPr>
          <p:spPr>
            <a:xfrm flipV="true">
              <a:off x="2893605" y="1699407"/>
              <a:ext cx="164483" cy="284893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2" id="62"/>
            <p:cNvSpPr txBox="true"/>
            <p:nvPr/>
          </p:nvSpPr>
          <p:spPr>
            <a:xfrm rot="0">
              <a:off x="3180550" y="1933860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63" id="63"/>
            <p:cNvSpPr/>
            <p:nvPr/>
          </p:nvSpPr>
          <p:spPr>
            <a:xfrm>
              <a:off x="2963768" y="2124401"/>
              <a:ext cx="381851" cy="58481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4" id="64"/>
            <p:cNvSpPr txBox="true"/>
            <p:nvPr/>
          </p:nvSpPr>
          <p:spPr>
            <a:xfrm rot="0">
              <a:off x="3058088" y="2532006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2791688" y="3168956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66" id="66"/>
            <p:cNvSpPr/>
            <p:nvPr/>
          </p:nvSpPr>
          <p:spPr>
            <a:xfrm flipH="true">
              <a:off x="2963768" y="2784908"/>
              <a:ext cx="313956" cy="30607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7" id="67"/>
            <p:cNvSpPr/>
            <p:nvPr/>
          </p:nvSpPr>
          <p:spPr>
            <a:xfrm flipH="true" flipV="true">
              <a:off x="2864380" y="3013704"/>
              <a:ext cx="166246" cy="244274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8" id="68"/>
            <p:cNvSpPr/>
            <p:nvPr/>
          </p:nvSpPr>
          <p:spPr>
            <a:xfrm flipH="true" flipV="true">
              <a:off x="2106088" y="3500955"/>
              <a:ext cx="120768" cy="234525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9" id="69"/>
            <p:cNvSpPr/>
            <p:nvPr/>
          </p:nvSpPr>
          <p:spPr>
            <a:xfrm flipV="true">
              <a:off x="1747524" y="3513553"/>
              <a:ext cx="160831" cy="242955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0" id="70"/>
            <p:cNvSpPr txBox="true"/>
            <p:nvPr/>
          </p:nvSpPr>
          <p:spPr>
            <a:xfrm rot="0">
              <a:off x="1971557" y="3658903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71" id="71"/>
            <p:cNvSpPr/>
            <p:nvPr/>
          </p:nvSpPr>
          <p:spPr>
            <a:xfrm>
              <a:off x="657695" y="2832134"/>
              <a:ext cx="317377" cy="36915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2" id="72"/>
            <p:cNvSpPr txBox="true"/>
            <p:nvPr/>
          </p:nvSpPr>
          <p:spPr>
            <a:xfrm rot="0">
              <a:off x="61451" y="2579233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73" id="73"/>
            <p:cNvSpPr/>
            <p:nvPr/>
          </p:nvSpPr>
          <p:spPr>
            <a:xfrm flipV="true">
              <a:off x="965041" y="3065958"/>
              <a:ext cx="141253" cy="286599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4" id="74"/>
            <p:cNvSpPr txBox="true"/>
            <p:nvPr/>
          </p:nvSpPr>
          <p:spPr>
            <a:xfrm rot="0">
              <a:off x="501938" y="3304931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75" id="75"/>
            <p:cNvSpPr/>
            <p:nvPr/>
          </p:nvSpPr>
          <p:spPr>
            <a:xfrm flipV="true">
              <a:off x="2052832" y="1141632"/>
              <a:ext cx="0" cy="498665"/>
            </a:xfrm>
            <a:prstGeom prst="line">
              <a:avLst/>
            </a:prstGeom>
            <a:ln cap="flat" w="44217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6" id="76"/>
            <p:cNvSpPr txBox="true"/>
            <p:nvPr/>
          </p:nvSpPr>
          <p:spPr>
            <a:xfrm rot="0">
              <a:off x="1619753" y="591941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-5400000">
              <a:off x="566830" y="371410"/>
              <a:ext cx="1692548" cy="979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82"/>
                </a:lnSpc>
              </a:pPr>
              <a:r>
                <a:rPr lang="en-US" sz="4416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-5400000">
              <a:off x="1252200" y="356672"/>
              <a:ext cx="1692548" cy="97920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6182"/>
                </a:lnSpc>
              </a:pPr>
              <a:r>
                <a:rPr lang="en-US" sz="4416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</p:grpSp>
      <p:sp>
        <p:nvSpPr>
          <p:cNvPr name="Freeform 79" id="79"/>
          <p:cNvSpPr/>
          <p:nvPr/>
        </p:nvSpPr>
        <p:spPr>
          <a:xfrm flipH="false" flipV="false" rot="0">
            <a:off x="10471908" y="5597573"/>
            <a:ext cx="1551091" cy="2699683"/>
          </a:xfrm>
          <a:custGeom>
            <a:avLst/>
            <a:gdLst/>
            <a:ahLst/>
            <a:cxnLst/>
            <a:rect r="r" b="b" t="t" l="l"/>
            <a:pathLst>
              <a:path h="2699683" w="1551091">
                <a:moveTo>
                  <a:pt x="0" y="0"/>
                </a:moveTo>
                <a:lnTo>
                  <a:pt x="1551091" y="0"/>
                </a:lnTo>
                <a:lnTo>
                  <a:pt x="1551091" y="2699683"/>
                </a:lnTo>
                <a:lnTo>
                  <a:pt x="0" y="26996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0" id="80"/>
          <p:cNvSpPr txBox="true"/>
          <p:nvPr/>
        </p:nvSpPr>
        <p:spPr>
          <a:xfrm rot="0">
            <a:off x="5236369" y="359870"/>
            <a:ext cx="4767262" cy="79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Cyclohexanone</a:t>
            </a:r>
          </a:p>
        </p:txBody>
      </p:sp>
      <p:sp>
        <p:nvSpPr>
          <p:cNvPr name="TextBox 81" id="81"/>
          <p:cNvSpPr txBox="true"/>
          <p:nvPr/>
        </p:nvSpPr>
        <p:spPr>
          <a:xfrm rot="0">
            <a:off x="2500678" y="1582383"/>
            <a:ext cx="29192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name="TextBox 82" id="82"/>
          <p:cNvSpPr txBox="true"/>
          <p:nvPr/>
        </p:nvSpPr>
        <p:spPr>
          <a:xfrm rot="0">
            <a:off x="2247789" y="5080000"/>
            <a:ext cx="342507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 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</p:txBody>
      </p:sp>
      <p:sp>
        <p:nvSpPr>
          <p:cNvPr name="TextBox 83" id="83"/>
          <p:cNvSpPr txBox="true"/>
          <p:nvPr/>
        </p:nvSpPr>
        <p:spPr>
          <a:xfrm rot="0">
            <a:off x="9940855" y="5105400"/>
            <a:ext cx="28357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 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1588328" y="2766536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C₆H₁₀O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885825" y="6331697"/>
            <a:ext cx="6176307" cy="93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(CH₂)₅C=O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0" y="9018928"/>
            <a:ext cx="31898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VERIFICATION STRIP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3867039" y="9075443"/>
            <a:ext cx="194869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Atom count verified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6795273" y="9070998"/>
            <a:ext cx="163651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Valence checked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9430374" y="9075443"/>
            <a:ext cx="19759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Bond order checked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12142275" y="9070998"/>
            <a:ext cx="2880598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Same connectivity confirmed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1989186" y="7818343"/>
            <a:ext cx="3942279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five CH₂ joined + one C=O joined in a ring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1878" y="234679"/>
            <a:ext cx="17971628" cy="1028690"/>
            <a:chOff x="0" y="0"/>
            <a:chExt cx="3993695" cy="2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3695" cy="228598"/>
            </a:xfrm>
            <a:custGeom>
              <a:avLst/>
              <a:gdLst/>
              <a:ahLst/>
              <a:cxnLst/>
              <a:rect r="r" b="b" t="t" l="l"/>
              <a:pathLst>
                <a:path h="228598" w="3993695">
                  <a:moveTo>
                    <a:pt x="7741" y="0"/>
                  </a:moveTo>
                  <a:lnTo>
                    <a:pt x="3985955" y="0"/>
                  </a:lnTo>
                  <a:cubicBezTo>
                    <a:pt x="3990230" y="0"/>
                    <a:pt x="3993695" y="3466"/>
                    <a:pt x="3993695" y="7741"/>
                  </a:cubicBezTo>
                  <a:lnTo>
                    <a:pt x="3993695" y="220857"/>
                  </a:lnTo>
                  <a:cubicBezTo>
                    <a:pt x="3993695" y="222910"/>
                    <a:pt x="3992880" y="224879"/>
                    <a:pt x="3991428" y="226331"/>
                  </a:cubicBezTo>
                  <a:cubicBezTo>
                    <a:pt x="3989977" y="227782"/>
                    <a:pt x="3988008" y="228598"/>
                    <a:pt x="3985955" y="228598"/>
                  </a:cubicBezTo>
                  <a:lnTo>
                    <a:pt x="7741" y="228598"/>
                  </a:lnTo>
                  <a:cubicBezTo>
                    <a:pt x="3466" y="228598"/>
                    <a:pt x="0" y="225132"/>
                    <a:pt x="0" y="220857"/>
                  </a:cubicBezTo>
                  <a:lnTo>
                    <a:pt x="0" y="7741"/>
                  </a:lnTo>
                  <a:cubicBezTo>
                    <a:pt x="0" y="3466"/>
                    <a:pt x="3466" y="0"/>
                    <a:pt x="7741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93695" cy="257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013" y="1434603"/>
            <a:ext cx="6989574" cy="3350992"/>
            <a:chOff x="0" y="0"/>
            <a:chExt cx="1553239" cy="744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239" cy="744665"/>
            </a:xfrm>
            <a:custGeom>
              <a:avLst/>
              <a:gdLst/>
              <a:ahLst/>
              <a:cxnLst/>
              <a:rect r="r" b="b" t="t" l="l"/>
              <a:pathLst>
                <a:path h="7446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724762"/>
                  </a:lnTo>
                  <a:cubicBezTo>
                    <a:pt x="1553239" y="730041"/>
                    <a:pt x="1551142" y="735103"/>
                    <a:pt x="1547409" y="738836"/>
                  </a:cubicBezTo>
                  <a:cubicBezTo>
                    <a:pt x="1543677" y="742568"/>
                    <a:pt x="1538614" y="744665"/>
                    <a:pt x="1533336" y="744665"/>
                  </a:cubicBezTo>
                  <a:lnTo>
                    <a:pt x="19903" y="744665"/>
                  </a:lnTo>
                  <a:cubicBezTo>
                    <a:pt x="14624" y="744665"/>
                    <a:pt x="9562" y="742568"/>
                    <a:pt x="5829" y="738836"/>
                  </a:cubicBezTo>
                  <a:cubicBezTo>
                    <a:pt x="2097" y="735103"/>
                    <a:pt x="0" y="730041"/>
                    <a:pt x="0" y="7247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53239" cy="77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85348" y="1434603"/>
            <a:ext cx="6946726" cy="3327897"/>
            <a:chOff x="0" y="0"/>
            <a:chExt cx="1543717" cy="739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3717" cy="739533"/>
            </a:xfrm>
            <a:custGeom>
              <a:avLst/>
              <a:gdLst/>
              <a:ahLst/>
              <a:cxnLst/>
              <a:rect r="r" b="b" t="t" l="l"/>
              <a:pathLst>
                <a:path h="739533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719507"/>
                  </a:lnTo>
                  <a:cubicBezTo>
                    <a:pt x="1543717" y="724818"/>
                    <a:pt x="1541607" y="729912"/>
                    <a:pt x="1537852" y="733667"/>
                  </a:cubicBezTo>
                  <a:cubicBezTo>
                    <a:pt x="1534096" y="737423"/>
                    <a:pt x="1529002" y="739533"/>
                    <a:pt x="1523691" y="739533"/>
                  </a:cubicBezTo>
                  <a:lnTo>
                    <a:pt x="20026" y="739533"/>
                  </a:lnTo>
                  <a:cubicBezTo>
                    <a:pt x="14715" y="739533"/>
                    <a:pt x="9621" y="737423"/>
                    <a:pt x="5865" y="733667"/>
                  </a:cubicBezTo>
                  <a:cubicBezTo>
                    <a:pt x="2110" y="729912"/>
                    <a:pt x="0" y="724818"/>
                    <a:pt x="0" y="719507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43717" cy="76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538" y="4924425"/>
            <a:ext cx="6989574" cy="3735744"/>
            <a:chOff x="0" y="0"/>
            <a:chExt cx="1553239" cy="8301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3239" cy="830165"/>
            </a:xfrm>
            <a:custGeom>
              <a:avLst/>
              <a:gdLst/>
              <a:ahLst/>
              <a:cxnLst/>
              <a:rect r="r" b="b" t="t" l="l"/>
              <a:pathLst>
                <a:path h="8301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810262"/>
                  </a:lnTo>
                  <a:cubicBezTo>
                    <a:pt x="1553239" y="815541"/>
                    <a:pt x="1551142" y="820603"/>
                    <a:pt x="1547409" y="824336"/>
                  </a:cubicBezTo>
                  <a:cubicBezTo>
                    <a:pt x="1543677" y="828068"/>
                    <a:pt x="1538614" y="830165"/>
                    <a:pt x="1533336" y="830165"/>
                  </a:cubicBezTo>
                  <a:lnTo>
                    <a:pt x="19903" y="830165"/>
                  </a:lnTo>
                  <a:cubicBezTo>
                    <a:pt x="14624" y="830165"/>
                    <a:pt x="9562" y="828068"/>
                    <a:pt x="5829" y="824336"/>
                  </a:cubicBezTo>
                  <a:cubicBezTo>
                    <a:pt x="2097" y="820603"/>
                    <a:pt x="0" y="815541"/>
                    <a:pt x="0" y="8102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553239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5348" y="4924425"/>
            <a:ext cx="6946726" cy="3735744"/>
            <a:chOff x="0" y="0"/>
            <a:chExt cx="1543717" cy="8301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3717" cy="830165"/>
            </a:xfrm>
            <a:custGeom>
              <a:avLst/>
              <a:gdLst/>
              <a:ahLst/>
              <a:cxnLst/>
              <a:rect r="r" b="b" t="t" l="l"/>
              <a:pathLst>
                <a:path h="830165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810140"/>
                  </a:lnTo>
                  <a:cubicBezTo>
                    <a:pt x="1543717" y="815451"/>
                    <a:pt x="1541607" y="820544"/>
                    <a:pt x="1537852" y="824300"/>
                  </a:cubicBezTo>
                  <a:cubicBezTo>
                    <a:pt x="1534096" y="828055"/>
                    <a:pt x="1529002" y="830165"/>
                    <a:pt x="1523691" y="830165"/>
                  </a:cubicBezTo>
                  <a:lnTo>
                    <a:pt x="20026" y="830165"/>
                  </a:lnTo>
                  <a:cubicBezTo>
                    <a:pt x="14715" y="830165"/>
                    <a:pt x="9621" y="828055"/>
                    <a:pt x="5865" y="824300"/>
                  </a:cubicBezTo>
                  <a:cubicBezTo>
                    <a:pt x="2110" y="820544"/>
                    <a:pt x="0" y="815451"/>
                    <a:pt x="0" y="810140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543717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6997" y="234679"/>
            <a:ext cx="1035877" cy="1035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8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0598" y="8930914"/>
            <a:ext cx="15750465" cy="817377"/>
            <a:chOff x="0" y="0"/>
            <a:chExt cx="3500103" cy="1816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0103" cy="181639"/>
            </a:xfrm>
            <a:custGeom>
              <a:avLst/>
              <a:gdLst/>
              <a:ahLst/>
              <a:cxnLst/>
              <a:rect r="r" b="b" t="t" l="l"/>
              <a:pathLst>
                <a:path h="181639" w="3500103">
                  <a:moveTo>
                    <a:pt x="8832" y="0"/>
                  </a:moveTo>
                  <a:lnTo>
                    <a:pt x="3491271" y="0"/>
                  </a:lnTo>
                  <a:cubicBezTo>
                    <a:pt x="3493613" y="0"/>
                    <a:pt x="3495860" y="931"/>
                    <a:pt x="3497516" y="2587"/>
                  </a:cubicBezTo>
                  <a:cubicBezTo>
                    <a:pt x="3499173" y="4243"/>
                    <a:pt x="3500103" y="6490"/>
                    <a:pt x="3500103" y="8832"/>
                  </a:cubicBezTo>
                  <a:lnTo>
                    <a:pt x="3500103" y="172807"/>
                  </a:lnTo>
                  <a:cubicBezTo>
                    <a:pt x="3500103" y="177685"/>
                    <a:pt x="3496149" y="181639"/>
                    <a:pt x="3491271" y="181639"/>
                  </a:cubicBezTo>
                  <a:lnTo>
                    <a:pt x="8832" y="181639"/>
                  </a:lnTo>
                  <a:cubicBezTo>
                    <a:pt x="3954" y="181639"/>
                    <a:pt x="0" y="177685"/>
                    <a:pt x="0" y="172807"/>
                  </a:cubicBezTo>
                  <a:lnTo>
                    <a:pt x="0" y="8832"/>
                  </a:lnTo>
                  <a:cubicBezTo>
                    <a:pt x="0" y="3954"/>
                    <a:pt x="3954" y="0"/>
                    <a:pt x="8832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500103" cy="21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010" y="9133992"/>
            <a:ext cx="173360" cy="186561"/>
            <a:chOff x="0" y="0"/>
            <a:chExt cx="49311" cy="530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2280" y="9133992"/>
            <a:ext cx="173360" cy="186561"/>
            <a:chOff x="0" y="0"/>
            <a:chExt cx="49311" cy="53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49638" y="9124085"/>
            <a:ext cx="173360" cy="186561"/>
            <a:chOff x="0" y="0"/>
            <a:chExt cx="49311" cy="530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01466" y="9133992"/>
            <a:ext cx="173360" cy="186561"/>
            <a:chOff x="0" y="0"/>
            <a:chExt cx="49311" cy="530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570258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4792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9819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824604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0242440" y="1591908"/>
            <a:ext cx="2232541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62605" y="4374516"/>
            <a:ext cx="46874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Lone pairs: 2 on each O, 1 on N; none on C or H</a:t>
            </a:r>
          </a:p>
        </p:txBody>
      </p:sp>
      <p:sp>
        <p:nvSpPr>
          <p:cNvPr name="Freeform 41" id="41"/>
          <p:cNvSpPr/>
          <p:nvPr/>
        </p:nvSpPr>
        <p:spPr>
          <a:xfrm flipH="false" flipV="false" rot="0">
            <a:off x="8318439" y="5673725"/>
            <a:ext cx="5959536" cy="2643867"/>
          </a:xfrm>
          <a:custGeom>
            <a:avLst/>
            <a:gdLst/>
            <a:ahLst/>
            <a:cxnLst/>
            <a:rect r="r" b="b" t="t" l="l"/>
            <a:pathLst>
              <a:path h="2643867" w="5959536">
                <a:moveTo>
                  <a:pt x="0" y="0"/>
                </a:moveTo>
                <a:lnTo>
                  <a:pt x="5959536" y="0"/>
                </a:lnTo>
                <a:lnTo>
                  <a:pt x="5959536" y="2643866"/>
                </a:lnTo>
                <a:lnTo>
                  <a:pt x="0" y="264386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42" id="42"/>
          <p:cNvSpPr txBox="true"/>
          <p:nvPr/>
        </p:nvSpPr>
        <p:spPr>
          <a:xfrm rot="0">
            <a:off x="2855714" y="359870"/>
            <a:ext cx="9528572" cy="79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Acetaminophen [paracetamol]</a:t>
            </a:r>
          </a:p>
        </p:txBody>
      </p:sp>
      <p:sp>
        <p:nvSpPr>
          <p:cNvPr name="TextBox 43" id="43"/>
          <p:cNvSpPr txBox="true"/>
          <p:nvPr/>
        </p:nvSpPr>
        <p:spPr>
          <a:xfrm rot="0">
            <a:off x="2500678" y="1582383"/>
            <a:ext cx="29192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name="TextBox 44" id="44"/>
          <p:cNvSpPr txBox="true"/>
          <p:nvPr/>
        </p:nvSpPr>
        <p:spPr>
          <a:xfrm rot="0">
            <a:off x="2247789" y="5080000"/>
            <a:ext cx="342507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 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</p:txBody>
      </p:sp>
      <p:sp>
        <p:nvSpPr>
          <p:cNvPr name="TextBox 45" id="45"/>
          <p:cNvSpPr txBox="true"/>
          <p:nvPr/>
        </p:nvSpPr>
        <p:spPr>
          <a:xfrm rot="0">
            <a:off x="9940855" y="5105400"/>
            <a:ext cx="28357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 </a:t>
            </a:r>
          </a:p>
        </p:txBody>
      </p:sp>
      <p:sp>
        <p:nvSpPr>
          <p:cNvPr name="TextBox 46" id="46"/>
          <p:cNvSpPr txBox="true"/>
          <p:nvPr/>
        </p:nvSpPr>
        <p:spPr>
          <a:xfrm rot="0">
            <a:off x="1588328" y="2766536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C₈H₉NO₂</a:t>
            </a:r>
          </a:p>
        </p:txBody>
      </p:sp>
      <p:sp>
        <p:nvSpPr>
          <p:cNvPr name="TextBox 47" id="47"/>
          <p:cNvSpPr txBox="true"/>
          <p:nvPr/>
        </p:nvSpPr>
        <p:spPr>
          <a:xfrm rot="0">
            <a:off x="885825" y="6331697"/>
            <a:ext cx="6176307" cy="93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CH₃CONHC₆H₄OH</a:t>
            </a:r>
          </a:p>
        </p:txBody>
      </p:sp>
      <p:sp>
        <p:nvSpPr>
          <p:cNvPr name="TextBox 48" id="48"/>
          <p:cNvSpPr txBox="true"/>
          <p:nvPr/>
        </p:nvSpPr>
        <p:spPr>
          <a:xfrm rot="0">
            <a:off x="0" y="9018928"/>
            <a:ext cx="31898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VERIFICATION STRIP</a:t>
            </a:r>
          </a:p>
        </p:txBody>
      </p:sp>
      <p:sp>
        <p:nvSpPr>
          <p:cNvPr name="TextBox 49" id="49"/>
          <p:cNvSpPr txBox="true"/>
          <p:nvPr/>
        </p:nvSpPr>
        <p:spPr>
          <a:xfrm rot="0">
            <a:off x="3867039" y="9075443"/>
            <a:ext cx="194869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Atom count verified</a:t>
            </a:r>
          </a:p>
        </p:txBody>
      </p:sp>
      <p:sp>
        <p:nvSpPr>
          <p:cNvPr name="TextBox 50" id="50"/>
          <p:cNvSpPr txBox="true"/>
          <p:nvPr/>
        </p:nvSpPr>
        <p:spPr>
          <a:xfrm rot="0">
            <a:off x="6795273" y="9070998"/>
            <a:ext cx="163651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Valence checked</a:t>
            </a:r>
          </a:p>
        </p:txBody>
      </p:sp>
      <p:sp>
        <p:nvSpPr>
          <p:cNvPr name="TextBox 51" id="51"/>
          <p:cNvSpPr txBox="true"/>
          <p:nvPr/>
        </p:nvSpPr>
        <p:spPr>
          <a:xfrm rot="0">
            <a:off x="9430374" y="9075443"/>
            <a:ext cx="19759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Bond order checked</a:t>
            </a:r>
          </a:p>
        </p:txBody>
      </p:sp>
      <p:sp>
        <p:nvSpPr>
          <p:cNvPr name="TextBox 52" id="52"/>
          <p:cNvSpPr txBox="true"/>
          <p:nvPr/>
        </p:nvSpPr>
        <p:spPr>
          <a:xfrm rot="0">
            <a:off x="12142275" y="9070998"/>
            <a:ext cx="2880598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Same connectivity confirmed</a:t>
            </a:r>
          </a:p>
        </p:txBody>
      </p:sp>
      <p:sp>
        <p:nvSpPr>
          <p:cNvPr name="TextBox 53" id="53"/>
          <p:cNvSpPr txBox="true"/>
          <p:nvPr/>
        </p:nvSpPr>
        <p:spPr>
          <a:xfrm rot="0">
            <a:off x="2061040" y="7818343"/>
            <a:ext cx="3798570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is also written as CH₃C(=O)NH-C₆H₄-OH</a:t>
            </a:r>
          </a:p>
        </p:txBody>
      </p:sp>
      <p:grpSp>
        <p:nvGrpSpPr>
          <p:cNvPr name="Group 54" id="54"/>
          <p:cNvGrpSpPr/>
          <p:nvPr/>
        </p:nvGrpSpPr>
        <p:grpSpPr>
          <a:xfrm rot="0">
            <a:off x="8415344" y="2033752"/>
            <a:ext cx="5555152" cy="2157248"/>
            <a:chOff x="0" y="0"/>
            <a:chExt cx="7406869" cy="2876331"/>
          </a:xfrm>
        </p:grpSpPr>
        <p:sp>
          <p:nvSpPr>
            <p:cNvPr name="TextBox 55" id="55"/>
            <p:cNvSpPr txBox="true"/>
            <p:nvPr/>
          </p:nvSpPr>
          <p:spPr>
            <a:xfrm rot="0">
              <a:off x="3259050" y="2418153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56" id="56"/>
            <p:cNvSpPr/>
            <p:nvPr/>
          </p:nvSpPr>
          <p:spPr>
            <a:xfrm flipV="true">
              <a:off x="3326155" y="1588257"/>
              <a:ext cx="262665" cy="301869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7" id="57"/>
            <p:cNvSpPr/>
            <p:nvPr/>
          </p:nvSpPr>
          <p:spPr>
            <a:xfrm flipH="true">
              <a:off x="2669384" y="785421"/>
              <a:ext cx="415474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8" id="58"/>
            <p:cNvSpPr txBox="true"/>
            <p:nvPr/>
          </p:nvSpPr>
          <p:spPr>
            <a:xfrm rot="0">
              <a:off x="2083102" y="551569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998673" y="1137029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</p:txBody>
        </p:sp>
        <p:sp>
          <p:nvSpPr>
            <p:cNvPr name="AutoShape 60" id="60"/>
            <p:cNvSpPr/>
            <p:nvPr/>
          </p:nvSpPr>
          <p:spPr>
            <a:xfrm flipH="true">
              <a:off x="3807469" y="1381377"/>
              <a:ext cx="350246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1" id="61"/>
            <p:cNvSpPr/>
            <p:nvPr/>
          </p:nvSpPr>
          <p:spPr>
            <a:xfrm flipH="true" flipV="true">
              <a:off x="3360689" y="2248533"/>
              <a:ext cx="120768" cy="234525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 flipV="true">
              <a:off x="2216246" y="2250327"/>
              <a:ext cx="160831" cy="242955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3" id="63"/>
            <p:cNvSpPr txBox="true"/>
            <p:nvPr/>
          </p:nvSpPr>
          <p:spPr>
            <a:xfrm rot="0">
              <a:off x="859572" y="1130079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1624595" y="2418153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65" id="65"/>
            <p:cNvSpPr txBox="true"/>
            <p:nvPr/>
          </p:nvSpPr>
          <p:spPr>
            <a:xfrm rot="0">
              <a:off x="2904029" y="532519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66" id="66"/>
            <p:cNvSpPr/>
            <p:nvPr/>
          </p:nvSpPr>
          <p:spPr>
            <a:xfrm flipH="true" flipV="true">
              <a:off x="3409123" y="943527"/>
              <a:ext cx="133390" cy="256402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7" id="67"/>
            <p:cNvSpPr/>
            <p:nvPr/>
          </p:nvSpPr>
          <p:spPr>
            <a:xfrm flipH="true" flipV="true">
              <a:off x="3356453" y="1032247"/>
              <a:ext cx="83980" cy="145457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8" id="68"/>
            <p:cNvSpPr/>
            <p:nvPr/>
          </p:nvSpPr>
          <p:spPr>
            <a:xfrm flipH="true">
              <a:off x="2223241" y="966222"/>
              <a:ext cx="126956" cy="247726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9" id="69"/>
            <p:cNvSpPr/>
            <p:nvPr/>
          </p:nvSpPr>
          <p:spPr>
            <a:xfrm flipH="true">
              <a:off x="2311161" y="1071728"/>
              <a:ext cx="81801" cy="142221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0" id="70"/>
            <p:cNvSpPr txBox="true"/>
            <p:nvPr/>
          </p:nvSpPr>
          <p:spPr>
            <a:xfrm rot="0">
              <a:off x="1694241" y="1130079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3199958" y="1130079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72" id="72"/>
            <p:cNvSpPr/>
            <p:nvPr/>
          </p:nvSpPr>
          <p:spPr>
            <a:xfrm>
              <a:off x="2148949" y="1591926"/>
              <a:ext cx="244013" cy="298199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3" id="73"/>
            <p:cNvSpPr txBox="true"/>
            <p:nvPr/>
          </p:nvSpPr>
          <p:spPr>
            <a:xfrm rot="0">
              <a:off x="2113606" y="1842501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74" id="74"/>
            <p:cNvSpPr txBox="true"/>
            <p:nvPr/>
          </p:nvSpPr>
          <p:spPr>
            <a:xfrm rot="0">
              <a:off x="2830528" y="1842501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75" id="75"/>
            <p:cNvSpPr/>
            <p:nvPr/>
          </p:nvSpPr>
          <p:spPr>
            <a:xfrm flipH="true">
              <a:off x="2733871" y="2114452"/>
              <a:ext cx="298413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6" id="76"/>
            <p:cNvSpPr/>
            <p:nvPr/>
          </p:nvSpPr>
          <p:spPr>
            <a:xfrm>
              <a:off x="2807349" y="2038252"/>
              <a:ext cx="167959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7" id="77"/>
            <p:cNvSpPr/>
            <p:nvPr/>
          </p:nvSpPr>
          <p:spPr>
            <a:xfrm flipH="true">
              <a:off x="1473804" y="1389931"/>
              <a:ext cx="415474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8" id="78"/>
            <p:cNvSpPr/>
            <p:nvPr/>
          </p:nvSpPr>
          <p:spPr>
            <a:xfrm flipH="true">
              <a:off x="626434" y="1402030"/>
              <a:ext cx="415474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9" id="79"/>
            <p:cNvSpPr txBox="true"/>
            <p:nvPr/>
          </p:nvSpPr>
          <p:spPr>
            <a:xfrm rot="0">
              <a:off x="0" y="1152304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80" id="80"/>
            <p:cNvSpPr txBox="true"/>
            <p:nvPr/>
          </p:nvSpPr>
          <p:spPr>
            <a:xfrm rot="-5400000">
              <a:off x="492251" y="710436"/>
              <a:ext cx="1164322" cy="671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03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-5400000">
              <a:off x="504951" y="1382625"/>
              <a:ext cx="1164322" cy="671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03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82" id="82"/>
            <p:cNvSpPr txBox="true"/>
            <p:nvPr/>
          </p:nvSpPr>
          <p:spPr>
            <a:xfrm rot="-5400000">
              <a:off x="3632334" y="723136"/>
              <a:ext cx="1164322" cy="671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03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83" id="83"/>
            <p:cNvSpPr/>
            <p:nvPr/>
          </p:nvSpPr>
          <p:spPr>
            <a:xfrm flipV="true">
              <a:off x="4387534" y="1588257"/>
              <a:ext cx="0" cy="40962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4" id="84"/>
            <p:cNvSpPr txBox="true"/>
            <p:nvPr/>
          </p:nvSpPr>
          <p:spPr>
            <a:xfrm rot="0">
              <a:off x="3998673" y="1978926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85" id="85"/>
            <p:cNvSpPr/>
            <p:nvPr/>
          </p:nvSpPr>
          <p:spPr>
            <a:xfrm>
              <a:off x="4646960" y="1379156"/>
              <a:ext cx="409620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6" id="86"/>
            <p:cNvSpPr txBox="true"/>
            <p:nvPr/>
          </p:nvSpPr>
          <p:spPr>
            <a:xfrm rot="0">
              <a:off x="4897317" y="1128476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87" id="87"/>
            <p:cNvSpPr/>
            <p:nvPr/>
          </p:nvSpPr>
          <p:spPr>
            <a:xfrm flipV="true">
              <a:off x="5248495" y="785910"/>
              <a:ext cx="0" cy="40962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8" id="88"/>
            <p:cNvSpPr/>
            <p:nvPr/>
          </p:nvSpPr>
          <p:spPr>
            <a:xfrm flipV="true">
              <a:off x="5325126" y="785421"/>
              <a:ext cx="0" cy="40962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9" id="89"/>
            <p:cNvSpPr txBox="true"/>
            <p:nvPr/>
          </p:nvSpPr>
          <p:spPr>
            <a:xfrm rot="0">
              <a:off x="4897317" y="295435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0">
              <a:off x="4387534" y="33539"/>
              <a:ext cx="1164322" cy="671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03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91" id="91"/>
            <p:cNvSpPr txBox="true"/>
            <p:nvPr/>
          </p:nvSpPr>
          <p:spPr>
            <a:xfrm rot="0">
              <a:off x="5016130" y="33539"/>
              <a:ext cx="1164322" cy="67178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253"/>
                </a:lnSpc>
              </a:pPr>
              <a:r>
                <a:rPr lang="en-US" sz="303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92" id="92"/>
            <p:cNvSpPr/>
            <p:nvPr/>
          </p:nvSpPr>
          <p:spPr>
            <a:xfrm>
              <a:off x="5513779" y="1370881"/>
              <a:ext cx="409620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3" id="93"/>
            <p:cNvSpPr txBox="true"/>
            <p:nvPr/>
          </p:nvSpPr>
          <p:spPr>
            <a:xfrm rot="0">
              <a:off x="5776640" y="1130079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94" id="94"/>
            <p:cNvSpPr/>
            <p:nvPr/>
          </p:nvSpPr>
          <p:spPr>
            <a:xfrm>
              <a:off x="6399827" y="1363930"/>
              <a:ext cx="409620" cy="0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5" id="95"/>
            <p:cNvSpPr txBox="true"/>
            <p:nvPr/>
          </p:nvSpPr>
          <p:spPr>
            <a:xfrm rot="0">
              <a:off x="6629146" y="1111029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96" id="96"/>
            <p:cNvSpPr/>
            <p:nvPr/>
          </p:nvSpPr>
          <p:spPr>
            <a:xfrm flipH="true">
              <a:off x="6165502" y="782174"/>
              <a:ext cx="0" cy="431041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7" id="97"/>
            <p:cNvSpPr txBox="true"/>
            <p:nvPr/>
          </p:nvSpPr>
          <p:spPr>
            <a:xfrm rot="0">
              <a:off x="5776640" y="295435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98" id="98"/>
            <p:cNvSpPr/>
            <p:nvPr/>
          </p:nvSpPr>
          <p:spPr>
            <a:xfrm flipH="true">
              <a:off x="6180451" y="1595510"/>
              <a:ext cx="0" cy="431041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9" id="99"/>
            <p:cNvSpPr txBox="true"/>
            <p:nvPr/>
          </p:nvSpPr>
          <p:spPr>
            <a:xfrm rot="0">
              <a:off x="5791590" y="1950251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100" id="100"/>
            <p:cNvSpPr/>
            <p:nvPr/>
          </p:nvSpPr>
          <p:spPr>
            <a:xfrm flipV="true">
              <a:off x="3412104" y="376465"/>
              <a:ext cx="160831" cy="242955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101" id="101"/>
            <p:cNvSpPr/>
            <p:nvPr/>
          </p:nvSpPr>
          <p:spPr>
            <a:xfrm flipH="true" flipV="true">
              <a:off x="2264613" y="397886"/>
              <a:ext cx="120768" cy="234525"/>
            </a:xfrm>
            <a:prstGeom prst="line">
              <a:avLst/>
            </a:prstGeom>
            <a:ln cap="flat" w="38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102" id="102"/>
            <p:cNvSpPr txBox="true"/>
            <p:nvPr/>
          </p:nvSpPr>
          <p:spPr>
            <a:xfrm rot="0">
              <a:off x="1724744" y="-47625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103" id="103"/>
            <p:cNvSpPr txBox="true"/>
            <p:nvPr/>
          </p:nvSpPr>
          <p:spPr>
            <a:xfrm rot="0">
              <a:off x="3381211" y="-47625"/>
              <a:ext cx="777723" cy="45817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840"/>
                </a:lnSpc>
              </a:pPr>
              <a:r>
                <a:rPr lang="en-US" sz="2029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</p:grp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1878" y="234679"/>
            <a:ext cx="17971628" cy="1028690"/>
            <a:chOff x="0" y="0"/>
            <a:chExt cx="3993695" cy="2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3695" cy="228598"/>
            </a:xfrm>
            <a:custGeom>
              <a:avLst/>
              <a:gdLst/>
              <a:ahLst/>
              <a:cxnLst/>
              <a:rect r="r" b="b" t="t" l="l"/>
              <a:pathLst>
                <a:path h="228598" w="3993695">
                  <a:moveTo>
                    <a:pt x="7741" y="0"/>
                  </a:moveTo>
                  <a:lnTo>
                    <a:pt x="3985955" y="0"/>
                  </a:lnTo>
                  <a:cubicBezTo>
                    <a:pt x="3990230" y="0"/>
                    <a:pt x="3993695" y="3466"/>
                    <a:pt x="3993695" y="7741"/>
                  </a:cubicBezTo>
                  <a:lnTo>
                    <a:pt x="3993695" y="220857"/>
                  </a:lnTo>
                  <a:cubicBezTo>
                    <a:pt x="3993695" y="222910"/>
                    <a:pt x="3992880" y="224879"/>
                    <a:pt x="3991428" y="226331"/>
                  </a:cubicBezTo>
                  <a:cubicBezTo>
                    <a:pt x="3989977" y="227782"/>
                    <a:pt x="3988008" y="228598"/>
                    <a:pt x="3985955" y="228598"/>
                  </a:cubicBezTo>
                  <a:lnTo>
                    <a:pt x="7741" y="228598"/>
                  </a:lnTo>
                  <a:cubicBezTo>
                    <a:pt x="3466" y="228598"/>
                    <a:pt x="0" y="225132"/>
                    <a:pt x="0" y="220857"/>
                  </a:cubicBezTo>
                  <a:lnTo>
                    <a:pt x="0" y="7741"/>
                  </a:lnTo>
                  <a:cubicBezTo>
                    <a:pt x="0" y="3466"/>
                    <a:pt x="3466" y="0"/>
                    <a:pt x="7741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93695" cy="257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013" y="1434603"/>
            <a:ext cx="6989574" cy="3350992"/>
            <a:chOff x="0" y="0"/>
            <a:chExt cx="1553239" cy="744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239" cy="744665"/>
            </a:xfrm>
            <a:custGeom>
              <a:avLst/>
              <a:gdLst/>
              <a:ahLst/>
              <a:cxnLst/>
              <a:rect r="r" b="b" t="t" l="l"/>
              <a:pathLst>
                <a:path h="7446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724762"/>
                  </a:lnTo>
                  <a:cubicBezTo>
                    <a:pt x="1553239" y="730041"/>
                    <a:pt x="1551142" y="735103"/>
                    <a:pt x="1547409" y="738836"/>
                  </a:cubicBezTo>
                  <a:cubicBezTo>
                    <a:pt x="1543677" y="742568"/>
                    <a:pt x="1538614" y="744665"/>
                    <a:pt x="1533336" y="744665"/>
                  </a:cubicBezTo>
                  <a:lnTo>
                    <a:pt x="19903" y="744665"/>
                  </a:lnTo>
                  <a:cubicBezTo>
                    <a:pt x="14624" y="744665"/>
                    <a:pt x="9562" y="742568"/>
                    <a:pt x="5829" y="738836"/>
                  </a:cubicBezTo>
                  <a:cubicBezTo>
                    <a:pt x="2097" y="735103"/>
                    <a:pt x="0" y="730041"/>
                    <a:pt x="0" y="7247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53239" cy="77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85348" y="1434603"/>
            <a:ext cx="6946726" cy="3327897"/>
            <a:chOff x="0" y="0"/>
            <a:chExt cx="1543717" cy="739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3717" cy="739533"/>
            </a:xfrm>
            <a:custGeom>
              <a:avLst/>
              <a:gdLst/>
              <a:ahLst/>
              <a:cxnLst/>
              <a:rect r="r" b="b" t="t" l="l"/>
              <a:pathLst>
                <a:path h="739533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719507"/>
                  </a:lnTo>
                  <a:cubicBezTo>
                    <a:pt x="1543717" y="724818"/>
                    <a:pt x="1541607" y="729912"/>
                    <a:pt x="1537852" y="733667"/>
                  </a:cubicBezTo>
                  <a:cubicBezTo>
                    <a:pt x="1534096" y="737423"/>
                    <a:pt x="1529002" y="739533"/>
                    <a:pt x="1523691" y="739533"/>
                  </a:cubicBezTo>
                  <a:lnTo>
                    <a:pt x="20026" y="739533"/>
                  </a:lnTo>
                  <a:cubicBezTo>
                    <a:pt x="14715" y="739533"/>
                    <a:pt x="9621" y="737423"/>
                    <a:pt x="5865" y="733667"/>
                  </a:cubicBezTo>
                  <a:cubicBezTo>
                    <a:pt x="2110" y="729912"/>
                    <a:pt x="0" y="724818"/>
                    <a:pt x="0" y="719507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43717" cy="76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538" y="4924425"/>
            <a:ext cx="6989574" cy="3735744"/>
            <a:chOff x="0" y="0"/>
            <a:chExt cx="1553239" cy="8301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3239" cy="830165"/>
            </a:xfrm>
            <a:custGeom>
              <a:avLst/>
              <a:gdLst/>
              <a:ahLst/>
              <a:cxnLst/>
              <a:rect r="r" b="b" t="t" l="l"/>
              <a:pathLst>
                <a:path h="8301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810262"/>
                  </a:lnTo>
                  <a:cubicBezTo>
                    <a:pt x="1553239" y="815541"/>
                    <a:pt x="1551142" y="820603"/>
                    <a:pt x="1547409" y="824336"/>
                  </a:cubicBezTo>
                  <a:cubicBezTo>
                    <a:pt x="1543677" y="828068"/>
                    <a:pt x="1538614" y="830165"/>
                    <a:pt x="1533336" y="830165"/>
                  </a:cubicBezTo>
                  <a:lnTo>
                    <a:pt x="19903" y="830165"/>
                  </a:lnTo>
                  <a:cubicBezTo>
                    <a:pt x="14624" y="830165"/>
                    <a:pt x="9562" y="828068"/>
                    <a:pt x="5829" y="824336"/>
                  </a:cubicBezTo>
                  <a:cubicBezTo>
                    <a:pt x="2097" y="820603"/>
                    <a:pt x="0" y="815541"/>
                    <a:pt x="0" y="8102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553239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5348" y="4924425"/>
            <a:ext cx="6946726" cy="3735744"/>
            <a:chOff x="0" y="0"/>
            <a:chExt cx="1543717" cy="8301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3717" cy="830165"/>
            </a:xfrm>
            <a:custGeom>
              <a:avLst/>
              <a:gdLst/>
              <a:ahLst/>
              <a:cxnLst/>
              <a:rect r="r" b="b" t="t" l="l"/>
              <a:pathLst>
                <a:path h="830165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810140"/>
                  </a:lnTo>
                  <a:cubicBezTo>
                    <a:pt x="1543717" y="815451"/>
                    <a:pt x="1541607" y="820544"/>
                    <a:pt x="1537852" y="824300"/>
                  </a:cubicBezTo>
                  <a:cubicBezTo>
                    <a:pt x="1534096" y="828055"/>
                    <a:pt x="1529002" y="830165"/>
                    <a:pt x="1523691" y="830165"/>
                  </a:cubicBezTo>
                  <a:lnTo>
                    <a:pt x="20026" y="830165"/>
                  </a:lnTo>
                  <a:cubicBezTo>
                    <a:pt x="14715" y="830165"/>
                    <a:pt x="9621" y="828055"/>
                    <a:pt x="5865" y="824300"/>
                  </a:cubicBezTo>
                  <a:cubicBezTo>
                    <a:pt x="2110" y="820544"/>
                    <a:pt x="0" y="815451"/>
                    <a:pt x="0" y="810140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543717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6997" y="234679"/>
            <a:ext cx="1035877" cy="1035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9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0598" y="8930914"/>
            <a:ext cx="15750465" cy="817377"/>
            <a:chOff x="0" y="0"/>
            <a:chExt cx="3500103" cy="1816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0103" cy="181639"/>
            </a:xfrm>
            <a:custGeom>
              <a:avLst/>
              <a:gdLst/>
              <a:ahLst/>
              <a:cxnLst/>
              <a:rect r="r" b="b" t="t" l="l"/>
              <a:pathLst>
                <a:path h="181639" w="3500103">
                  <a:moveTo>
                    <a:pt x="8832" y="0"/>
                  </a:moveTo>
                  <a:lnTo>
                    <a:pt x="3491271" y="0"/>
                  </a:lnTo>
                  <a:cubicBezTo>
                    <a:pt x="3493613" y="0"/>
                    <a:pt x="3495860" y="931"/>
                    <a:pt x="3497516" y="2587"/>
                  </a:cubicBezTo>
                  <a:cubicBezTo>
                    <a:pt x="3499173" y="4243"/>
                    <a:pt x="3500103" y="6490"/>
                    <a:pt x="3500103" y="8832"/>
                  </a:cubicBezTo>
                  <a:lnTo>
                    <a:pt x="3500103" y="172807"/>
                  </a:lnTo>
                  <a:cubicBezTo>
                    <a:pt x="3500103" y="177685"/>
                    <a:pt x="3496149" y="181639"/>
                    <a:pt x="3491271" y="181639"/>
                  </a:cubicBezTo>
                  <a:lnTo>
                    <a:pt x="8832" y="181639"/>
                  </a:lnTo>
                  <a:cubicBezTo>
                    <a:pt x="3954" y="181639"/>
                    <a:pt x="0" y="177685"/>
                    <a:pt x="0" y="172807"/>
                  </a:cubicBezTo>
                  <a:lnTo>
                    <a:pt x="0" y="8832"/>
                  </a:lnTo>
                  <a:cubicBezTo>
                    <a:pt x="0" y="3954"/>
                    <a:pt x="3954" y="0"/>
                    <a:pt x="8832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500103" cy="21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010" y="9133992"/>
            <a:ext cx="173360" cy="186561"/>
            <a:chOff x="0" y="0"/>
            <a:chExt cx="49311" cy="530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2280" y="9133992"/>
            <a:ext cx="173360" cy="186561"/>
            <a:chOff x="0" y="0"/>
            <a:chExt cx="49311" cy="53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49638" y="9124085"/>
            <a:ext cx="173360" cy="186561"/>
            <a:chOff x="0" y="0"/>
            <a:chExt cx="49311" cy="530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01466" y="9133992"/>
            <a:ext cx="173360" cy="186561"/>
            <a:chOff x="0" y="0"/>
            <a:chExt cx="49311" cy="530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570258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4792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9819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824604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0242440" y="1591908"/>
            <a:ext cx="2232541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9062605" y="4374516"/>
            <a:ext cx="46874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Lone pairs; 2 on each O; none on C or H</a:t>
            </a:r>
          </a:p>
        </p:txBody>
      </p:sp>
      <p:grpSp>
        <p:nvGrpSpPr>
          <p:cNvPr name="Group 41" id="41"/>
          <p:cNvGrpSpPr/>
          <p:nvPr/>
        </p:nvGrpSpPr>
        <p:grpSpPr>
          <a:xfrm rot="0">
            <a:off x="9239467" y="1790345"/>
            <a:ext cx="4333737" cy="2657830"/>
            <a:chOff x="0" y="0"/>
            <a:chExt cx="5778316" cy="3543773"/>
          </a:xfrm>
        </p:grpSpPr>
        <p:sp>
          <p:nvSpPr>
            <p:cNvPr name="TextBox 42" id="42"/>
            <p:cNvSpPr txBox="true"/>
            <p:nvPr/>
          </p:nvSpPr>
          <p:spPr>
            <a:xfrm rot="0">
              <a:off x="3602556" y="3163137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43" id="43"/>
            <p:cNvSpPr/>
            <p:nvPr/>
          </p:nvSpPr>
          <p:spPr>
            <a:xfrm flipV="true">
              <a:off x="3669751" y="2439210"/>
              <a:ext cx="263017" cy="258862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4" id="44"/>
            <p:cNvSpPr/>
            <p:nvPr/>
          </p:nvSpPr>
          <p:spPr>
            <a:xfrm flipH="true">
              <a:off x="3012100" y="1750754"/>
              <a:ext cx="416032" cy="0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5" id="45"/>
            <p:cNvSpPr txBox="true"/>
            <p:nvPr/>
          </p:nvSpPr>
          <p:spPr>
            <a:xfrm rot="0">
              <a:off x="2425033" y="1562484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46" id="46"/>
            <p:cNvSpPr/>
            <p:nvPr/>
          </p:nvSpPr>
          <p:spPr>
            <a:xfrm flipH="true">
              <a:off x="4151711" y="2261805"/>
              <a:ext cx="350716" cy="0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7" id="47"/>
            <p:cNvSpPr/>
            <p:nvPr/>
          </p:nvSpPr>
          <p:spPr>
            <a:xfrm flipH="true" flipV="true">
              <a:off x="3700090" y="2991092"/>
              <a:ext cx="125172" cy="215438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8" id="48"/>
            <p:cNvSpPr/>
            <p:nvPr/>
          </p:nvSpPr>
          <p:spPr>
            <a:xfrm flipV="true">
              <a:off x="2558355" y="3006956"/>
              <a:ext cx="161046" cy="208342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9" id="49"/>
            <p:cNvSpPr txBox="true"/>
            <p:nvPr/>
          </p:nvSpPr>
          <p:spPr>
            <a:xfrm rot="0">
              <a:off x="1965910" y="3163137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TextBox 50" id="50"/>
            <p:cNvSpPr txBox="true"/>
            <p:nvPr/>
          </p:nvSpPr>
          <p:spPr>
            <a:xfrm rot="0">
              <a:off x="3247060" y="1546148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1" id="51"/>
            <p:cNvSpPr/>
            <p:nvPr/>
          </p:nvSpPr>
          <p:spPr>
            <a:xfrm flipH="true" flipV="true">
              <a:off x="3752831" y="1886335"/>
              <a:ext cx="133569" cy="219872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H="true" flipV="true">
              <a:off x="3700090" y="1962415"/>
              <a:ext cx="84092" cy="124734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3" id="53"/>
            <p:cNvSpPr/>
            <p:nvPr/>
          </p:nvSpPr>
          <p:spPr>
            <a:xfrm flipH="true">
              <a:off x="2565360" y="1905797"/>
              <a:ext cx="127126" cy="212433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4" id="54"/>
            <p:cNvSpPr/>
            <p:nvPr/>
          </p:nvSpPr>
          <p:spPr>
            <a:xfrm flipH="true">
              <a:off x="2653397" y="1996271"/>
              <a:ext cx="81910" cy="121958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5" id="55"/>
            <p:cNvSpPr txBox="true"/>
            <p:nvPr/>
          </p:nvSpPr>
          <p:spPr>
            <a:xfrm rot="0">
              <a:off x="2035650" y="2058574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56" id="56"/>
            <p:cNvSpPr txBox="true"/>
            <p:nvPr/>
          </p:nvSpPr>
          <p:spPr>
            <a:xfrm rot="0">
              <a:off x="3543385" y="2058574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7" id="57"/>
            <p:cNvSpPr/>
            <p:nvPr/>
          </p:nvSpPr>
          <p:spPr>
            <a:xfrm>
              <a:off x="2490967" y="2442357"/>
              <a:ext cx="244340" cy="255715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8" id="58"/>
            <p:cNvSpPr txBox="true"/>
            <p:nvPr/>
          </p:nvSpPr>
          <p:spPr>
            <a:xfrm rot="0">
              <a:off x="2455577" y="2669497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59" id="59"/>
            <p:cNvSpPr txBox="true"/>
            <p:nvPr/>
          </p:nvSpPr>
          <p:spPr>
            <a:xfrm rot="0">
              <a:off x="3173460" y="2669497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60" id="60"/>
            <p:cNvSpPr/>
            <p:nvPr/>
          </p:nvSpPr>
          <p:spPr>
            <a:xfrm flipH="true">
              <a:off x="3076673" y="2890439"/>
              <a:ext cx="298813" cy="0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1" id="61"/>
            <p:cNvSpPr/>
            <p:nvPr/>
          </p:nvSpPr>
          <p:spPr>
            <a:xfrm>
              <a:off x="3150251" y="2825095"/>
              <a:ext cx="168184" cy="0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2" id="62"/>
            <p:cNvSpPr/>
            <p:nvPr/>
          </p:nvSpPr>
          <p:spPr>
            <a:xfrm flipH="true">
              <a:off x="1814917" y="2269140"/>
              <a:ext cx="416032" cy="0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3" id="63"/>
            <p:cNvSpPr txBox="true"/>
            <p:nvPr/>
          </p:nvSpPr>
          <p:spPr>
            <a:xfrm rot="0">
              <a:off x="1155148" y="2065464"/>
              <a:ext cx="791483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64" id="64"/>
            <p:cNvSpPr/>
            <p:nvPr/>
          </p:nvSpPr>
          <p:spPr>
            <a:xfrm flipV="true">
              <a:off x="3636443" y="1355438"/>
              <a:ext cx="0" cy="249855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5" id="65"/>
            <p:cNvSpPr txBox="true"/>
            <p:nvPr/>
          </p:nvSpPr>
          <p:spPr>
            <a:xfrm rot="0">
              <a:off x="4381322" y="2061721"/>
              <a:ext cx="791483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66" id="66"/>
            <p:cNvSpPr/>
            <p:nvPr/>
          </p:nvSpPr>
          <p:spPr>
            <a:xfrm flipV="true">
              <a:off x="2825884" y="1355438"/>
              <a:ext cx="0" cy="249855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7" id="67"/>
            <p:cNvSpPr txBox="true"/>
            <p:nvPr/>
          </p:nvSpPr>
          <p:spPr>
            <a:xfrm rot="0">
              <a:off x="2455577" y="942251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68" id="68"/>
            <p:cNvSpPr txBox="true"/>
            <p:nvPr/>
          </p:nvSpPr>
          <p:spPr>
            <a:xfrm rot="0">
              <a:off x="2314566" y="515651"/>
              <a:ext cx="1060788" cy="527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8"/>
                </a:lnSpc>
              </a:pPr>
              <a:r>
                <a:rPr lang="en-US" sz="237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69" id="69"/>
            <p:cNvSpPr txBox="true"/>
            <p:nvPr/>
          </p:nvSpPr>
          <p:spPr>
            <a:xfrm rot="0">
              <a:off x="3247060" y="953240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70" id="70"/>
            <p:cNvSpPr txBox="true"/>
            <p:nvPr/>
          </p:nvSpPr>
          <p:spPr>
            <a:xfrm rot="-5400000">
              <a:off x="2638852" y="895200"/>
              <a:ext cx="908440" cy="527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8"/>
                </a:lnSpc>
              </a:pPr>
              <a:r>
                <a:rPr lang="en-US" sz="237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71" id="71"/>
            <p:cNvSpPr txBox="true"/>
            <p:nvPr/>
          </p:nvSpPr>
          <p:spPr>
            <a:xfrm rot="0">
              <a:off x="1646267" y="942251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72" id="72"/>
            <p:cNvSpPr/>
            <p:nvPr/>
          </p:nvSpPr>
          <p:spPr>
            <a:xfrm flipH="true">
              <a:off x="2247561" y="1151073"/>
              <a:ext cx="416032" cy="0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3" id="73"/>
            <p:cNvSpPr/>
            <p:nvPr/>
          </p:nvSpPr>
          <p:spPr>
            <a:xfrm flipV="true">
              <a:off x="2016645" y="680914"/>
              <a:ext cx="0" cy="292727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4" id="74"/>
            <p:cNvSpPr/>
            <p:nvPr/>
          </p:nvSpPr>
          <p:spPr>
            <a:xfrm flipV="true">
              <a:off x="2092664" y="680914"/>
              <a:ext cx="0" cy="292727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5" id="75"/>
            <p:cNvSpPr txBox="true"/>
            <p:nvPr/>
          </p:nvSpPr>
          <p:spPr>
            <a:xfrm rot="-5400000">
              <a:off x="1773156" y="190630"/>
              <a:ext cx="908440" cy="527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8"/>
                </a:lnSpc>
              </a:pPr>
              <a:r>
                <a:rPr lang="en-US" sz="237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76" id="76"/>
            <p:cNvSpPr txBox="true"/>
            <p:nvPr/>
          </p:nvSpPr>
          <p:spPr>
            <a:xfrm rot="0">
              <a:off x="1676811" y="249614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-5400000">
              <a:off x="1194170" y="190630"/>
              <a:ext cx="908440" cy="527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8"/>
                </a:lnSpc>
              </a:pPr>
              <a:r>
                <a:rPr lang="en-US" sz="237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0">
              <a:off x="829492" y="954184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79" id="79"/>
            <p:cNvSpPr/>
            <p:nvPr/>
          </p:nvSpPr>
          <p:spPr>
            <a:xfrm flipH="true">
              <a:off x="1423976" y="1151073"/>
              <a:ext cx="416032" cy="0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0" id="80"/>
            <p:cNvSpPr txBox="true"/>
            <p:nvPr/>
          </p:nvSpPr>
          <p:spPr>
            <a:xfrm rot="0">
              <a:off x="816517" y="249614"/>
              <a:ext cx="791483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81" id="81"/>
            <p:cNvSpPr/>
            <p:nvPr/>
          </p:nvSpPr>
          <p:spPr>
            <a:xfrm flipV="true">
              <a:off x="1218875" y="626477"/>
              <a:ext cx="0" cy="356282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2" id="82"/>
            <p:cNvSpPr/>
            <p:nvPr/>
          </p:nvSpPr>
          <p:spPr>
            <a:xfrm flipV="true">
              <a:off x="1217246" y="1334821"/>
              <a:ext cx="0" cy="356282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3" id="83"/>
            <p:cNvSpPr txBox="true"/>
            <p:nvPr/>
          </p:nvSpPr>
          <p:spPr>
            <a:xfrm rot="0">
              <a:off x="821505" y="1662528"/>
              <a:ext cx="791483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84" id="84"/>
            <p:cNvSpPr/>
            <p:nvPr/>
          </p:nvSpPr>
          <p:spPr>
            <a:xfrm flipH="true">
              <a:off x="621476" y="1151073"/>
              <a:ext cx="416032" cy="0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5" id="85"/>
            <p:cNvSpPr txBox="true"/>
            <p:nvPr/>
          </p:nvSpPr>
          <p:spPr>
            <a:xfrm rot="0">
              <a:off x="0" y="951511"/>
              <a:ext cx="791483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  <p:sp>
          <p:nvSpPr>
            <p:cNvPr name="AutoShape 86" id="86"/>
            <p:cNvSpPr/>
            <p:nvPr/>
          </p:nvSpPr>
          <p:spPr>
            <a:xfrm flipV="true">
              <a:off x="3617438" y="687358"/>
              <a:ext cx="0" cy="292727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87" id="87"/>
            <p:cNvSpPr/>
            <p:nvPr/>
          </p:nvSpPr>
          <p:spPr>
            <a:xfrm flipV="true">
              <a:off x="3693456" y="689088"/>
              <a:ext cx="0" cy="292727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8" id="88"/>
            <p:cNvSpPr txBox="true"/>
            <p:nvPr/>
          </p:nvSpPr>
          <p:spPr>
            <a:xfrm rot="0">
              <a:off x="3261364" y="274171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89" id="89"/>
            <p:cNvSpPr txBox="true"/>
            <p:nvPr/>
          </p:nvSpPr>
          <p:spPr>
            <a:xfrm rot="-5400000">
              <a:off x="2796522" y="198910"/>
              <a:ext cx="908440" cy="527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8"/>
                </a:lnSpc>
              </a:pPr>
              <a:r>
                <a:rPr lang="en-US" sz="237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90" id="90"/>
            <p:cNvSpPr txBox="true"/>
            <p:nvPr/>
          </p:nvSpPr>
          <p:spPr>
            <a:xfrm rot="-5400000">
              <a:off x="3346362" y="198910"/>
              <a:ext cx="908440" cy="527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8"/>
                </a:lnSpc>
              </a:pPr>
              <a:r>
                <a:rPr lang="en-US" sz="237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91" id="91"/>
            <p:cNvSpPr/>
            <p:nvPr/>
          </p:nvSpPr>
          <p:spPr>
            <a:xfrm flipH="true">
              <a:off x="3856157" y="1151073"/>
              <a:ext cx="416032" cy="0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2" id="92"/>
            <p:cNvSpPr txBox="true"/>
            <p:nvPr/>
          </p:nvSpPr>
          <p:spPr>
            <a:xfrm rot="0">
              <a:off x="4113044" y="945066"/>
              <a:ext cx="778766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93" id="93"/>
            <p:cNvSpPr txBox="true"/>
            <p:nvPr/>
          </p:nvSpPr>
          <p:spPr>
            <a:xfrm rot="0">
              <a:off x="3972033" y="521946"/>
              <a:ext cx="1060788" cy="527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8"/>
                </a:lnSpc>
              </a:pPr>
              <a:r>
                <a:rPr lang="en-US" sz="237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94" id="94"/>
            <p:cNvSpPr txBox="true"/>
            <p:nvPr/>
          </p:nvSpPr>
          <p:spPr>
            <a:xfrm rot="0">
              <a:off x="3972033" y="978933"/>
              <a:ext cx="1060788" cy="52718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3318"/>
                </a:lnSpc>
              </a:pPr>
              <a:r>
                <a:rPr lang="en-US" sz="237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95" id="95"/>
            <p:cNvSpPr/>
            <p:nvPr/>
          </p:nvSpPr>
          <p:spPr>
            <a:xfrm flipH="true">
              <a:off x="4730310" y="1151073"/>
              <a:ext cx="416032" cy="0"/>
            </a:xfrm>
            <a:prstGeom prst="line">
              <a:avLst/>
            </a:prstGeom>
            <a:ln cap="flat" w="3255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96" id="96"/>
            <p:cNvSpPr txBox="true"/>
            <p:nvPr/>
          </p:nvSpPr>
          <p:spPr>
            <a:xfrm rot="0">
              <a:off x="4986833" y="945066"/>
              <a:ext cx="791483" cy="380637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436"/>
                </a:lnSpc>
              </a:pPr>
              <a:r>
                <a:rPr lang="en-US" sz="1740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</a:t>
              </a:r>
            </a:p>
          </p:txBody>
        </p:sp>
      </p:grpSp>
      <p:sp>
        <p:nvSpPr>
          <p:cNvPr name="Freeform 97" id="97"/>
          <p:cNvSpPr/>
          <p:nvPr/>
        </p:nvSpPr>
        <p:spPr>
          <a:xfrm flipH="false" flipV="false" rot="0">
            <a:off x="9197154" y="5522569"/>
            <a:ext cx="4323113" cy="2916136"/>
          </a:xfrm>
          <a:custGeom>
            <a:avLst/>
            <a:gdLst/>
            <a:ahLst/>
            <a:cxnLst/>
            <a:rect r="r" b="b" t="t" l="l"/>
            <a:pathLst>
              <a:path h="2916136" w="4323113">
                <a:moveTo>
                  <a:pt x="0" y="0"/>
                </a:moveTo>
                <a:lnTo>
                  <a:pt x="4323113" y="0"/>
                </a:lnTo>
                <a:lnTo>
                  <a:pt x="4323113" y="2916136"/>
                </a:lnTo>
                <a:lnTo>
                  <a:pt x="0" y="291613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98" id="98"/>
          <p:cNvSpPr txBox="true"/>
          <p:nvPr/>
        </p:nvSpPr>
        <p:spPr>
          <a:xfrm rot="0">
            <a:off x="3325773" y="359870"/>
            <a:ext cx="8588454" cy="79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Aspirin [acetylsalicylic acid]</a:t>
            </a:r>
          </a:p>
        </p:txBody>
      </p:sp>
      <p:sp>
        <p:nvSpPr>
          <p:cNvPr name="TextBox 99" id="99"/>
          <p:cNvSpPr txBox="true"/>
          <p:nvPr/>
        </p:nvSpPr>
        <p:spPr>
          <a:xfrm rot="0">
            <a:off x="2500678" y="1582383"/>
            <a:ext cx="29192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name="TextBox 100" id="100"/>
          <p:cNvSpPr txBox="true"/>
          <p:nvPr/>
        </p:nvSpPr>
        <p:spPr>
          <a:xfrm rot="0">
            <a:off x="2247789" y="5080000"/>
            <a:ext cx="342507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 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</p:txBody>
      </p:sp>
      <p:sp>
        <p:nvSpPr>
          <p:cNvPr name="TextBox 101" id="101"/>
          <p:cNvSpPr txBox="true"/>
          <p:nvPr/>
        </p:nvSpPr>
        <p:spPr>
          <a:xfrm rot="0">
            <a:off x="9940855" y="5105400"/>
            <a:ext cx="28357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 </a:t>
            </a:r>
          </a:p>
        </p:txBody>
      </p:sp>
      <p:sp>
        <p:nvSpPr>
          <p:cNvPr name="TextBox 102" id="102"/>
          <p:cNvSpPr txBox="true"/>
          <p:nvPr/>
        </p:nvSpPr>
        <p:spPr>
          <a:xfrm rot="0">
            <a:off x="1588328" y="2766536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C₉H₈O₄</a:t>
            </a:r>
          </a:p>
        </p:txBody>
      </p:sp>
      <p:sp>
        <p:nvSpPr>
          <p:cNvPr name="TextBox 103" id="103"/>
          <p:cNvSpPr txBox="true"/>
          <p:nvPr/>
        </p:nvSpPr>
        <p:spPr>
          <a:xfrm rot="0">
            <a:off x="885825" y="6331697"/>
            <a:ext cx="6176307" cy="93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CH₃CONHC₆H₄OH</a:t>
            </a:r>
          </a:p>
        </p:txBody>
      </p:sp>
      <p:sp>
        <p:nvSpPr>
          <p:cNvPr name="TextBox 104" id="104"/>
          <p:cNvSpPr txBox="true"/>
          <p:nvPr/>
        </p:nvSpPr>
        <p:spPr>
          <a:xfrm rot="0">
            <a:off x="0" y="9018928"/>
            <a:ext cx="31898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VERIFICATION STRIP</a:t>
            </a:r>
          </a:p>
        </p:txBody>
      </p:sp>
      <p:sp>
        <p:nvSpPr>
          <p:cNvPr name="TextBox 105" id="105"/>
          <p:cNvSpPr txBox="true"/>
          <p:nvPr/>
        </p:nvSpPr>
        <p:spPr>
          <a:xfrm rot="0">
            <a:off x="3867039" y="9075443"/>
            <a:ext cx="194869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Atom count verified</a:t>
            </a:r>
          </a:p>
        </p:txBody>
      </p:sp>
      <p:sp>
        <p:nvSpPr>
          <p:cNvPr name="TextBox 106" id="106"/>
          <p:cNvSpPr txBox="true"/>
          <p:nvPr/>
        </p:nvSpPr>
        <p:spPr>
          <a:xfrm rot="0">
            <a:off x="6795273" y="9070998"/>
            <a:ext cx="163651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Valence checked</a:t>
            </a:r>
          </a:p>
        </p:txBody>
      </p:sp>
      <p:sp>
        <p:nvSpPr>
          <p:cNvPr name="TextBox 107" id="107"/>
          <p:cNvSpPr txBox="true"/>
          <p:nvPr/>
        </p:nvSpPr>
        <p:spPr>
          <a:xfrm rot="0">
            <a:off x="9430374" y="9075443"/>
            <a:ext cx="19759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Bond order checked</a:t>
            </a:r>
          </a:p>
        </p:txBody>
      </p:sp>
      <p:sp>
        <p:nvSpPr>
          <p:cNvPr name="TextBox 108" id="108"/>
          <p:cNvSpPr txBox="true"/>
          <p:nvPr/>
        </p:nvSpPr>
        <p:spPr>
          <a:xfrm rot="0">
            <a:off x="12142275" y="9070998"/>
            <a:ext cx="2880598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Same connectivity confirmed</a:t>
            </a:r>
          </a:p>
        </p:txBody>
      </p:sp>
      <p:sp>
        <p:nvSpPr>
          <p:cNvPr name="TextBox 109" id="109"/>
          <p:cNvSpPr txBox="true"/>
          <p:nvPr/>
        </p:nvSpPr>
        <p:spPr>
          <a:xfrm rot="0">
            <a:off x="2061040" y="7818343"/>
            <a:ext cx="3798570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is also written as CH₃C(=O)NH-C₆H₄-OH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-2051878" y="234679"/>
            <a:ext cx="17971628" cy="1028690"/>
            <a:chOff x="0" y="0"/>
            <a:chExt cx="3993695" cy="228598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3993695" cy="228598"/>
            </a:xfrm>
            <a:custGeom>
              <a:avLst/>
              <a:gdLst/>
              <a:ahLst/>
              <a:cxnLst/>
              <a:rect r="r" b="b" t="t" l="l"/>
              <a:pathLst>
                <a:path h="228598" w="3993695">
                  <a:moveTo>
                    <a:pt x="7741" y="0"/>
                  </a:moveTo>
                  <a:lnTo>
                    <a:pt x="3985955" y="0"/>
                  </a:lnTo>
                  <a:cubicBezTo>
                    <a:pt x="3990230" y="0"/>
                    <a:pt x="3993695" y="3466"/>
                    <a:pt x="3993695" y="7741"/>
                  </a:cubicBezTo>
                  <a:lnTo>
                    <a:pt x="3993695" y="220857"/>
                  </a:lnTo>
                  <a:cubicBezTo>
                    <a:pt x="3993695" y="222910"/>
                    <a:pt x="3992880" y="224879"/>
                    <a:pt x="3991428" y="226331"/>
                  </a:cubicBezTo>
                  <a:cubicBezTo>
                    <a:pt x="3989977" y="227782"/>
                    <a:pt x="3988008" y="228598"/>
                    <a:pt x="3985955" y="228598"/>
                  </a:cubicBezTo>
                  <a:lnTo>
                    <a:pt x="7741" y="228598"/>
                  </a:lnTo>
                  <a:cubicBezTo>
                    <a:pt x="3466" y="228598"/>
                    <a:pt x="0" y="225132"/>
                    <a:pt x="0" y="220857"/>
                  </a:cubicBezTo>
                  <a:lnTo>
                    <a:pt x="0" y="7741"/>
                  </a:lnTo>
                  <a:cubicBezTo>
                    <a:pt x="0" y="3466"/>
                    <a:pt x="3466" y="0"/>
                    <a:pt x="7741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28575"/>
              <a:ext cx="3993695" cy="25717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456013" y="1434603"/>
            <a:ext cx="6989574" cy="3350992"/>
            <a:chOff x="0" y="0"/>
            <a:chExt cx="1553239" cy="744665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1553239" cy="744665"/>
            </a:xfrm>
            <a:custGeom>
              <a:avLst/>
              <a:gdLst/>
              <a:ahLst/>
              <a:cxnLst/>
              <a:rect r="r" b="b" t="t" l="l"/>
              <a:pathLst>
                <a:path h="7446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724762"/>
                  </a:lnTo>
                  <a:cubicBezTo>
                    <a:pt x="1553239" y="730041"/>
                    <a:pt x="1551142" y="735103"/>
                    <a:pt x="1547409" y="738836"/>
                  </a:cubicBezTo>
                  <a:cubicBezTo>
                    <a:pt x="1543677" y="742568"/>
                    <a:pt x="1538614" y="744665"/>
                    <a:pt x="1533336" y="744665"/>
                  </a:cubicBezTo>
                  <a:lnTo>
                    <a:pt x="19903" y="744665"/>
                  </a:lnTo>
                  <a:cubicBezTo>
                    <a:pt x="14624" y="744665"/>
                    <a:pt x="9562" y="742568"/>
                    <a:pt x="5829" y="738836"/>
                  </a:cubicBezTo>
                  <a:cubicBezTo>
                    <a:pt x="2097" y="735103"/>
                    <a:pt x="0" y="730041"/>
                    <a:pt x="0" y="7247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28575"/>
              <a:ext cx="1553239" cy="7732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7885348" y="1434603"/>
            <a:ext cx="6946726" cy="3327897"/>
            <a:chOff x="0" y="0"/>
            <a:chExt cx="1543717" cy="7395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1543717" cy="739533"/>
            </a:xfrm>
            <a:custGeom>
              <a:avLst/>
              <a:gdLst/>
              <a:ahLst/>
              <a:cxnLst/>
              <a:rect r="r" b="b" t="t" l="l"/>
              <a:pathLst>
                <a:path h="739533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719507"/>
                  </a:lnTo>
                  <a:cubicBezTo>
                    <a:pt x="1543717" y="724818"/>
                    <a:pt x="1541607" y="729912"/>
                    <a:pt x="1537852" y="733667"/>
                  </a:cubicBezTo>
                  <a:cubicBezTo>
                    <a:pt x="1534096" y="737423"/>
                    <a:pt x="1529002" y="739533"/>
                    <a:pt x="1523691" y="739533"/>
                  </a:cubicBezTo>
                  <a:lnTo>
                    <a:pt x="20026" y="739533"/>
                  </a:lnTo>
                  <a:cubicBezTo>
                    <a:pt x="14715" y="739533"/>
                    <a:pt x="9621" y="737423"/>
                    <a:pt x="5865" y="733667"/>
                  </a:cubicBezTo>
                  <a:cubicBezTo>
                    <a:pt x="2110" y="729912"/>
                    <a:pt x="0" y="724818"/>
                    <a:pt x="0" y="719507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28575"/>
              <a:ext cx="1543717" cy="76810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465538" y="4924425"/>
            <a:ext cx="6989574" cy="3735744"/>
            <a:chOff x="0" y="0"/>
            <a:chExt cx="1553239" cy="830165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1553239" cy="830165"/>
            </a:xfrm>
            <a:custGeom>
              <a:avLst/>
              <a:gdLst/>
              <a:ahLst/>
              <a:cxnLst/>
              <a:rect r="r" b="b" t="t" l="l"/>
              <a:pathLst>
                <a:path h="830165" w="1553239">
                  <a:moveTo>
                    <a:pt x="19903" y="0"/>
                  </a:moveTo>
                  <a:lnTo>
                    <a:pt x="1533336" y="0"/>
                  </a:lnTo>
                  <a:cubicBezTo>
                    <a:pt x="1544328" y="0"/>
                    <a:pt x="1553239" y="8911"/>
                    <a:pt x="1553239" y="19903"/>
                  </a:cubicBezTo>
                  <a:lnTo>
                    <a:pt x="1553239" y="810262"/>
                  </a:lnTo>
                  <a:cubicBezTo>
                    <a:pt x="1553239" y="815541"/>
                    <a:pt x="1551142" y="820603"/>
                    <a:pt x="1547409" y="824336"/>
                  </a:cubicBezTo>
                  <a:cubicBezTo>
                    <a:pt x="1543677" y="828068"/>
                    <a:pt x="1538614" y="830165"/>
                    <a:pt x="1533336" y="830165"/>
                  </a:cubicBezTo>
                  <a:lnTo>
                    <a:pt x="19903" y="830165"/>
                  </a:lnTo>
                  <a:cubicBezTo>
                    <a:pt x="14624" y="830165"/>
                    <a:pt x="9562" y="828068"/>
                    <a:pt x="5829" y="824336"/>
                  </a:cubicBezTo>
                  <a:cubicBezTo>
                    <a:pt x="2097" y="820603"/>
                    <a:pt x="0" y="815541"/>
                    <a:pt x="0" y="810262"/>
                  </a:cubicBezTo>
                  <a:lnTo>
                    <a:pt x="0" y="19903"/>
                  </a:lnTo>
                  <a:cubicBezTo>
                    <a:pt x="0" y="14624"/>
                    <a:pt x="2097" y="9562"/>
                    <a:pt x="5829" y="5829"/>
                  </a:cubicBezTo>
                  <a:cubicBezTo>
                    <a:pt x="9562" y="2097"/>
                    <a:pt x="14624" y="0"/>
                    <a:pt x="19903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28575"/>
              <a:ext cx="1553239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7885348" y="4924425"/>
            <a:ext cx="6946726" cy="3735744"/>
            <a:chOff x="0" y="0"/>
            <a:chExt cx="1543717" cy="830165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1543717" cy="830165"/>
            </a:xfrm>
            <a:custGeom>
              <a:avLst/>
              <a:gdLst/>
              <a:ahLst/>
              <a:cxnLst/>
              <a:rect r="r" b="b" t="t" l="l"/>
              <a:pathLst>
                <a:path h="830165" w="1543717">
                  <a:moveTo>
                    <a:pt x="20026" y="0"/>
                  </a:moveTo>
                  <a:lnTo>
                    <a:pt x="1523691" y="0"/>
                  </a:lnTo>
                  <a:cubicBezTo>
                    <a:pt x="1529002" y="0"/>
                    <a:pt x="1534096" y="2110"/>
                    <a:pt x="1537852" y="5865"/>
                  </a:cubicBezTo>
                  <a:cubicBezTo>
                    <a:pt x="1541607" y="9621"/>
                    <a:pt x="1543717" y="14715"/>
                    <a:pt x="1543717" y="20026"/>
                  </a:cubicBezTo>
                  <a:lnTo>
                    <a:pt x="1543717" y="810140"/>
                  </a:lnTo>
                  <a:cubicBezTo>
                    <a:pt x="1543717" y="815451"/>
                    <a:pt x="1541607" y="820544"/>
                    <a:pt x="1537852" y="824300"/>
                  </a:cubicBezTo>
                  <a:cubicBezTo>
                    <a:pt x="1534096" y="828055"/>
                    <a:pt x="1529002" y="830165"/>
                    <a:pt x="1523691" y="830165"/>
                  </a:cubicBezTo>
                  <a:lnTo>
                    <a:pt x="20026" y="830165"/>
                  </a:lnTo>
                  <a:cubicBezTo>
                    <a:pt x="14715" y="830165"/>
                    <a:pt x="9621" y="828055"/>
                    <a:pt x="5865" y="824300"/>
                  </a:cubicBezTo>
                  <a:cubicBezTo>
                    <a:pt x="2110" y="820544"/>
                    <a:pt x="0" y="815451"/>
                    <a:pt x="0" y="810140"/>
                  </a:cubicBezTo>
                  <a:lnTo>
                    <a:pt x="0" y="20026"/>
                  </a:lnTo>
                  <a:cubicBezTo>
                    <a:pt x="0" y="14715"/>
                    <a:pt x="2110" y="9621"/>
                    <a:pt x="5865" y="5865"/>
                  </a:cubicBezTo>
                  <a:cubicBezTo>
                    <a:pt x="9621" y="2110"/>
                    <a:pt x="14715" y="0"/>
                    <a:pt x="20026" y="0"/>
                  </a:cubicBezTo>
                  <a:close/>
                </a:path>
              </a:pathLst>
            </a:custGeom>
            <a:solidFill>
              <a:srgbClr val="FFEB99"/>
            </a:solidFill>
            <a:ln w="3810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28575"/>
              <a:ext cx="1543717" cy="85874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13986997" y="234679"/>
            <a:ext cx="1035877" cy="1035877"/>
            <a:chOff x="0" y="0"/>
            <a:chExt cx="812800" cy="812800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12800" cy="812800"/>
            </a:xfrm>
            <a:custGeom>
              <a:avLst/>
              <a:gdLst/>
              <a:ahLst/>
              <a:cxnLst/>
              <a:rect r="r" b="b" t="t" l="l"/>
              <a:pathLst>
                <a:path h="812800" w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CCA300"/>
            </a:solidFill>
          </p:spPr>
        </p:sp>
        <p:sp>
          <p:nvSpPr>
            <p:cNvPr name="TextBox 19" id="19"/>
            <p:cNvSpPr txBox="true"/>
            <p:nvPr/>
          </p:nvSpPr>
          <p:spPr>
            <a:xfrm>
              <a:off x="76200" y="9525"/>
              <a:ext cx="660400" cy="72707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4619"/>
                </a:lnSpc>
              </a:pPr>
              <a:r>
                <a:rPr lang="en-US" b="true" sz="3299">
                  <a:solidFill>
                    <a:srgbClr val="FFFFFF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10</a:t>
              </a:r>
            </a:p>
          </p:txBody>
        </p:sp>
      </p:grpSp>
      <p:grpSp>
        <p:nvGrpSpPr>
          <p:cNvPr name="Group 20" id="20"/>
          <p:cNvGrpSpPr/>
          <p:nvPr/>
        </p:nvGrpSpPr>
        <p:grpSpPr>
          <a:xfrm rot="0">
            <a:off x="-110598" y="8930914"/>
            <a:ext cx="15750465" cy="817377"/>
            <a:chOff x="0" y="0"/>
            <a:chExt cx="3500103" cy="181639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0" y="0"/>
              <a:ext cx="3500103" cy="181639"/>
            </a:xfrm>
            <a:custGeom>
              <a:avLst/>
              <a:gdLst/>
              <a:ahLst/>
              <a:cxnLst/>
              <a:rect r="r" b="b" t="t" l="l"/>
              <a:pathLst>
                <a:path h="181639" w="3500103">
                  <a:moveTo>
                    <a:pt x="8832" y="0"/>
                  </a:moveTo>
                  <a:lnTo>
                    <a:pt x="3491271" y="0"/>
                  </a:lnTo>
                  <a:cubicBezTo>
                    <a:pt x="3493613" y="0"/>
                    <a:pt x="3495860" y="931"/>
                    <a:pt x="3497516" y="2587"/>
                  </a:cubicBezTo>
                  <a:cubicBezTo>
                    <a:pt x="3499173" y="4243"/>
                    <a:pt x="3500103" y="6490"/>
                    <a:pt x="3500103" y="8832"/>
                  </a:cubicBezTo>
                  <a:lnTo>
                    <a:pt x="3500103" y="172807"/>
                  </a:lnTo>
                  <a:cubicBezTo>
                    <a:pt x="3500103" y="177685"/>
                    <a:pt x="3496149" y="181639"/>
                    <a:pt x="3491271" y="181639"/>
                  </a:cubicBezTo>
                  <a:lnTo>
                    <a:pt x="8832" y="181639"/>
                  </a:lnTo>
                  <a:cubicBezTo>
                    <a:pt x="3954" y="181639"/>
                    <a:pt x="0" y="177685"/>
                    <a:pt x="0" y="172807"/>
                  </a:cubicBezTo>
                  <a:lnTo>
                    <a:pt x="0" y="8832"/>
                  </a:lnTo>
                  <a:cubicBezTo>
                    <a:pt x="0" y="3954"/>
                    <a:pt x="3954" y="0"/>
                    <a:pt x="8832" y="0"/>
                  </a:cubicBezTo>
                  <a:close/>
                </a:path>
              </a:pathLst>
            </a:custGeom>
            <a:solidFill>
              <a:srgbClr val="FFEB99"/>
            </a:solidFill>
          </p:spPr>
        </p:sp>
        <p:sp>
          <p:nvSpPr>
            <p:cNvPr name="TextBox 22" id="22"/>
            <p:cNvSpPr txBox="true"/>
            <p:nvPr/>
          </p:nvSpPr>
          <p:spPr>
            <a:xfrm>
              <a:off x="0" y="-28575"/>
              <a:ext cx="3500103" cy="21021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23" id="23"/>
          <p:cNvGrpSpPr/>
          <p:nvPr/>
        </p:nvGrpSpPr>
        <p:grpSpPr>
          <a:xfrm rot="0">
            <a:off x="6492010" y="9133992"/>
            <a:ext cx="173360" cy="186561"/>
            <a:chOff x="0" y="0"/>
            <a:chExt cx="49311" cy="53066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5" id="25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6" id="26"/>
          <p:cNvGrpSpPr/>
          <p:nvPr/>
        </p:nvGrpSpPr>
        <p:grpSpPr>
          <a:xfrm rot="0">
            <a:off x="9142280" y="9133992"/>
            <a:ext cx="173360" cy="186561"/>
            <a:chOff x="0" y="0"/>
            <a:chExt cx="49311" cy="53066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28" id="28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1849638" y="9124085"/>
            <a:ext cx="173360" cy="186561"/>
            <a:chOff x="0" y="0"/>
            <a:chExt cx="49311" cy="53066"/>
          </a:xfrm>
        </p:grpSpPr>
        <p:sp>
          <p:nvSpPr>
            <p:cNvPr name="Freeform 30" id="30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1" id="31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3601466" y="9133992"/>
            <a:ext cx="173360" cy="186561"/>
            <a:chOff x="0" y="0"/>
            <a:chExt cx="49311" cy="53066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11" cy="53066"/>
            </a:xfrm>
            <a:custGeom>
              <a:avLst/>
              <a:gdLst/>
              <a:ahLst/>
              <a:cxnLst/>
              <a:rect r="r" b="b" t="t" l="l"/>
              <a:pathLst>
                <a:path h="53066" w="49311">
                  <a:moveTo>
                    <a:pt x="0" y="0"/>
                  </a:moveTo>
                  <a:lnTo>
                    <a:pt x="49311" y="0"/>
                  </a:lnTo>
                  <a:lnTo>
                    <a:pt x="49311" y="53066"/>
                  </a:lnTo>
                  <a:lnTo>
                    <a:pt x="0" y="53066"/>
                  </a:lnTo>
                  <a:close/>
                </a:path>
              </a:pathLst>
            </a:custGeom>
            <a:ln w="3810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34" id="34"/>
            <p:cNvSpPr txBox="true"/>
            <p:nvPr/>
          </p:nvSpPr>
          <p:spPr>
            <a:xfrm>
              <a:off x="0" y="-28575"/>
              <a:ext cx="49311" cy="8164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520"/>
                </a:lnSpc>
              </a:pPr>
            </a:p>
          </p:txBody>
        </p:sp>
      </p:grpSp>
      <p:sp>
        <p:nvSpPr>
          <p:cNvPr name="Freeform 35" id="35"/>
          <p:cNvSpPr/>
          <p:nvPr/>
        </p:nvSpPr>
        <p:spPr>
          <a:xfrm flipH="false" flipV="false" rot="0">
            <a:off x="3570258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6" id="36"/>
          <p:cNvSpPr/>
          <p:nvPr/>
        </p:nvSpPr>
        <p:spPr>
          <a:xfrm flipH="false" flipV="false" rot="0">
            <a:off x="644792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7" id="37"/>
          <p:cNvSpPr/>
          <p:nvPr/>
        </p:nvSpPr>
        <p:spPr>
          <a:xfrm flipH="false" flipV="false" rot="0">
            <a:off x="9098196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8" y="0"/>
                </a:lnTo>
                <a:lnTo>
                  <a:pt x="261528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8" id="38"/>
          <p:cNvSpPr/>
          <p:nvPr/>
        </p:nvSpPr>
        <p:spPr>
          <a:xfrm flipH="false" flipV="false" rot="0">
            <a:off x="11824604" y="9058889"/>
            <a:ext cx="261528" cy="244529"/>
          </a:xfrm>
          <a:custGeom>
            <a:avLst/>
            <a:gdLst/>
            <a:ahLst/>
            <a:cxnLst/>
            <a:rect r="r" b="b" t="t" l="l"/>
            <a:pathLst>
              <a:path h="244529" w="261528">
                <a:moveTo>
                  <a:pt x="0" y="0"/>
                </a:moveTo>
                <a:lnTo>
                  <a:pt x="261529" y="0"/>
                </a:lnTo>
                <a:lnTo>
                  <a:pt x="261529" y="244529"/>
                </a:lnTo>
                <a:lnTo>
                  <a:pt x="0" y="24452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9" id="39"/>
          <p:cNvSpPr txBox="true"/>
          <p:nvPr/>
        </p:nvSpPr>
        <p:spPr>
          <a:xfrm rot="0">
            <a:off x="10242440" y="1591908"/>
            <a:ext cx="2232541" cy="32321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660"/>
              </a:lnSpc>
            </a:pPr>
            <a:r>
              <a:rPr lang="en-US" sz="19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LEWIS STRUCTURE</a:t>
            </a:r>
          </a:p>
        </p:txBody>
      </p:sp>
      <p:grpSp>
        <p:nvGrpSpPr>
          <p:cNvPr name="Group 40" id="40"/>
          <p:cNvGrpSpPr/>
          <p:nvPr/>
        </p:nvGrpSpPr>
        <p:grpSpPr>
          <a:xfrm rot="0">
            <a:off x="9773371" y="1547199"/>
            <a:ext cx="3170680" cy="2827317"/>
            <a:chOff x="0" y="0"/>
            <a:chExt cx="4227574" cy="3769755"/>
          </a:xfrm>
        </p:grpSpPr>
        <p:sp>
          <p:nvSpPr>
            <p:cNvPr name="TextBox 41" id="41"/>
            <p:cNvSpPr txBox="true"/>
            <p:nvPr/>
          </p:nvSpPr>
          <p:spPr>
            <a:xfrm rot="0">
              <a:off x="3240426" y="2043063"/>
              <a:ext cx="819640" cy="399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4"/>
                </a:lnSpc>
              </a:pPr>
              <a:r>
                <a:rPr lang="en-US" sz="1831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</a:t>
              </a:r>
            </a:p>
          </p:txBody>
        </p:sp>
        <p:sp>
          <p:nvSpPr>
            <p:cNvPr name="AutoShape 42" id="42"/>
            <p:cNvSpPr/>
            <p:nvPr/>
          </p:nvSpPr>
          <p:spPr>
            <a:xfrm flipV="true">
              <a:off x="2722621" y="1667879"/>
              <a:ext cx="357644" cy="151489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3" id="43"/>
            <p:cNvSpPr txBox="true"/>
            <p:nvPr/>
          </p:nvSpPr>
          <p:spPr>
            <a:xfrm rot="0">
              <a:off x="938604" y="1645277"/>
              <a:ext cx="819640" cy="399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4"/>
                </a:lnSpc>
              </a:pPr>
              <a:r>
                <a:rPr lang="en-US" sz="1831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</p:txBody>
        </p:sp>
        <p:sp>
          <p:nvSpPr>
            <p:cNvPr name="AutoShape 44" id="44"/>
            <p:cNvSpPr/>
            <p:nvPr/>
          </p:nvSpPr>
          <p:spPr>
            <a:xfrm flipH="true" flipV="true">
              <a:off x="3386873" y="1776102"/>
              <a:ext cx="160414" cy="278185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45" id="45"/>
            <p:cNvSpPr/>
            <p:nvPr/>
          </p:nvSpPr>
          <p:spPr>
            <a:xfrm flipV="true">
              <a:off x="1971935" y="3044069"/>
              <a:ext cx="0" cy="352871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46" id="46"/>
            <p:cNvSpPr txBox="true"/>
            <p:nvPr/>
          </p:nvSpPr>
          <p:spPr>
            <a:xfrm rot="0">
              <a:off x="1562115" y="1288104"/>
              <a:ext cx="819640" cy="399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4"/>
                </a:lnSpc>
              </a:pPr>
              <a:r>
                <a:rPr lang="en-US" sz="1831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47" id="47"/>
            <p:cNvSpPr txBox="true"/>
            <p:nvPr/>
          </p:nvSpPr>
          <p:spPr>
            <a:xfrm rot="0">
              <a:off x="685083" y="1137742"/>
              <a:ext cx="1341391" cy="654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6"/>
                </a:lnSpc>
              </a:pPr>
              <a:r>
                <a:rPr lang="en-US" sz="299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48" id="48"/>
            <p:cNvSpPr txBox="true"/>
            <p:nvPr/>
          </p:nvSpPr>
          <p:spPr>
            <a:xfrm rot="0">
              <a:off x="2867600" y="1375615"/>
              <a:ext cx="819640" cy="399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4"/>
                </a:lnSpc>
              </a:pPr>
              <a:r>
                <a:rPr lang="en-US" sz="1831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</p:txBody>
        </p:sp>
        <p:sp>
          <p:nvSpPr>
            <p:cNvPr name="AutoShape 49" id="49"/>
            <p:cNvSpPr/>
            <p:nvPr/>
          </p:nvSpPr>
          <p:spPr>
            <a:xfrm flipH="true" flipV="true">
              <a:off x="2153279" y="1613074"/>
              <a:ext cx="217169" cy="148290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0" id="50"/>
            <p:cNvSpPr txBox="true"/>
            <p:nvPr/>
          </p:nvSpPr>
          <p:spPr>
            <a:xfrm rot="0">
              <a:off x="3511412" y="760702"/>
              <a:ext cx="716162" cy="356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4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CH₃</a:t>
              </a:r>
            </a:p>
          </p:txBody>
        </p:sp>
        <p:sp>
          <p:nvSpPr>
            <p:cNvPr name="AutoShape 51" id="51"/>
            <p:cNvSpPr/>
            <p:nvPr/>
          </p:nvSpPr>
          <p:spPr>
            <a:xfrm flipV="true">
              <a:off x="1584972" y="1614119"/>
              <a:ext cx="218583" cy="146198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2" id="52"/>
            <p:cNvSpPr/>
            <p:nvPr/>
          </p:nvSpPr>
          <p:spPr>
            <a:xfrm flipV="true">
              <a:off x="1348424" y="2044392"/>
              <a:ext cx="0" cy="262968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3" id="53"/>
            <p:cNvSpPr txBox="true"/>
            <p:nvPr/>
          </p:nvSpPr>
          <p:spPr>
            <a:xfrm rot="0">
              <a:off x="938604" y="2278785"/>
              <a:ext cx="819640" cy="399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4"/>
                </a:lnSpc>
              </a:pPr>
              <a:r>
                <a:rPr lang="en-US" sz="1831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54" id="54"/>
            <p:cNvSpPr/>
            <p:nvPr/>
          </p:nvSpPr>
          <p:spPr>
            <a:xfrm flipV="true">
              <a:off x="964231" y="2611243"/>
              <a:ext cx="201810" cy="168597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55" id="55"/>
            <p:cNvSpPr/>
            <p:nvPr/>
          </p:nvSpPr>
          <p:spPr>
            <a:xfrm flipV="true">
              <a:off x="1016924" y="2673530"/>
              <a:ext cx="202561" cy="167695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56" id="56"/>
            <p:cNvSpPr txBox="true"/>
            <p:nvPr/>
          </p:nvSpPr>
          <p:spPr>
            <a:xfrm rot="0">
              <a:off x="426578" y="2728802"/>
              <a:ext cx="819640" cy="399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4"/>
                </a:lnSpc>
              </a:pPr>
              <a:r>
                <a:rPr lang="en-US" sz="1831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57" id="57"/>
            <p:cNvSpPr txBox="true"/>
            <p:nvPr/>
          </p:nvSpPr>
          <p:spPr>
            <a:xfrm rot="-4482822">
              <a:off x="-224364" y="2492722"/>
              <a:ext cx="1341391" cy="654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6"/>
                </a:lnSpc>
              </a:pPr>
              <a:r>
                <a:rPr lang="en-US" sz="299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58" id="58"/>
            <p:cNvSpPr txBox="true"/>
            <p:nvPr/>
          </p:nvSpPr>
          <p:spPr>
            <a:xfrm rot="-10072505">
              <a:off x="71914" y="3028702"/>
              <a:ext cx="1341391" cy="654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6"/>
                </a:lnSpc>
              </a:pPr>
              <a:r>
                <a:rPr lang="en-US" sz="299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59" id="59"/>
            <p:cNvSpPr/>
            <p:nvPr/>
          </p:nvSpPr>
          <p:spPr>
            <a:xfrm flipH="true" flipV="true">
              <a:off x="1546688" y="2631877"/>
              <a:ext cx="217169" cy="148290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0" id="60"/>
            <p:cNvSpPr txBox="true"/>
            <p:nvPr/>
          </p:nvSpPr>
          <p:spPr>
            <a:xfrm rot="0">
              <a:off x="1562115" y="2644955"/>
              <a:ext cx="819640" cy="399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4"/>
                </a:lnSpc>
              </a:pPr>
              <a:r>
                <a:rPr lang="en-US" sz="1831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</p:txBody>
        </p:sp>
        <p:sp>
          <p:nvSpPr>
            <p:cNvPr name="AutoShape 61" id="61"/>
            <p:cNvSpPr/>
            <p:nvPr/>
          </p:nvSpPr>
          <p:spPr>
            <a:xfrm flipV="true">
              <a:off x="2152025" y="2627908"/>
              <a:ext cx="218583" cy="146198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2" id="62"/>
            <p:cNvSpPr txBox="true"/>
            <p:nvPr/>
          </p:nvSpPr>
          <p:spPr>
            <a:xfrm rot="0">
              <a:off x="1301239" y="2118926"/>
              <a:ext cx="1341391" cy="654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6"/>
                </a:lnSpc>
              </a:pPr>
              <a:r>
                <a:rPr lang="en-US" sz="299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63" id="63"/>
            <p:cNvSpPr txBox="true"/>
            <p:nvPr/>
          </p:nvSpPr>
          <p:spPr>
            <a:xfrm rot="0">
              <a:off x="2117450" y="2274415"/>
              <a:ext cx="819640" cy="399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4"/>
                </a:lnSpc>
              </a:pPr>
              <a:r>
                <a:rPr lang="en-US" sz="1831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TextBox 64" id="64"/>
            <p:cNvSpPr txBox="true"/>
            <p:nvPr/>
          </p:nvSpPr>
          <p:spPr>
            <a:xfrm rot="0">
              <a:off x="2129005" y="1623985"/>
              <a:ext cx="819640" cy="399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4"/>
                </a:lnSpc>
              </a:pPr>
              <a:r>
                <a:rPr lang="en-US" sz="1831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</a:t>
              </a:r>
            </a:p>
          </p:txBody>
        </p:sp>
        <p:sp>
          <p:nvSpPr>
            <p:cNvPr name="AutoShape 65" id="65"/>
            <p:cNvSpPr/>
            <p:nvPr/>
          </p:nvSpPr>
          <p:spPr>
            <a:xfrm flipV="true">
              <a:off x="2507220" y="2035067"/>
              <a:ext cx="0" cy="262968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6" id="66"/>
            <p:cNvSpPr/>
            <p:nvPr/>
          </p:nvSpPr>
          <p:spPr>
            <a:xfrm flipV="true">
              <a:off x="2582359" y="2031560"/>
              <a:ext cx="0" cy="262968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67" id="67"/>
            <p:cNvSpPr txBox="true"/>
            <p:nvPr/>
          </p:nvSpPr>
          <p:spPr>
            <a:xfrm rot="-2051231">
              <a:off x="2358630" y="898096"/>
              <a:ext cx="1341391" cy="654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6"/>
                </a:lnSpc>
              </a:pPr>
              <a:r>
                <a:rPr lang="en-US" sz="299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68" id="68"/>
            <p:cNvSpPr/>
            <p:nvPr/>
          </p:nvSpPr>
          <p:spPr>
            <a:xfrm flipH="true">
              <a:off x="3453054" y="1117360"/>
              <a:ext cx="160078" cy="332607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69" id="69"/>
            <p:cNvSpPr/>
            <p:nvPr/>
          </p:nvSpPr>
          <p:spPr>
            <a:xfrm flipV="true">
              <a:off x="3438985" y="2430210"/>
              <a:ext cx="177528" cy="286567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0" id="70"/>
            <p:cNvSpPr/>
            <p:nvPr/>
          </p:nvSpPr>
          <p:spPr>
            <a:xfrm flipV="true">
              <a:off x="3500088" y="2463317"/>
              <a:ext cx="175690" cy="281823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1" id="71"/>
            <p:cNvSpPr txBox="true"/>
            <p:nvPr/>
          </p:nvSpPr>
          <p:spPr>
            <a:xfrm rot="0">
              <a:off x="2886519" y="2661489"/>
              <a:ext cx="819640" cy="399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4"/>
                </a:lnSpc>
              </a:pPr>
              <a:r>
                <a:rPr lang="en-US" sz="1831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N</a:t>
              </a:r>
            </a:p>
          </p:txBody>
        </p:sp>
        <p:sp>
          <p:nvSpPr>
            <p:cNvPr name="TextBox 72" id="72"/>
            <p:cNvSpPr txBox="true"/>
            <p:nvPr/>
          </p:nvSpPr>
          <p:spPr>
            <a:xfrm rot="0">
              <a:off x="2625643" y="2621785"/>
              <a:ext cx="1341391" cy="654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6"/>
                </a:lnSpc>
              </a:pPr>
              <a:r>
                <a:rPr lang="en-US" sz="299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73" id="73"/>
            <p:cNvSpPr/>
            <p:nvPr/>
          </p:nvSpPr>
          <p:spPr>
            <a:xfrm flipH="true" flipV="true">
              <a:off x="2705124" y="2586211"/>
              <a:ext cx="363679" cy="183377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4" id="74"/>
            <p:cNvSpPr/>
            <p:nvPr/>
          </p:nvSpPr>
          <p:spPr>
            <a:xfrm flipV="true">
              <a:off x="1949944" y="1074741"/>
              <a:ext cx="0" cy="262968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AutoShape 75" id="75"/>
            <p:cNvSpPr/>
            <p:nvPr/>
          </p:nvSpPr>
          <p:spPr>
            <a:xfrm flipV="true">
              <a:off x="2025083" y="1071235"/>
              <a:ext cx="0" cy="262968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76" id="76"/>
            <p:cNvSpPr txBox="true"/>
            <p:nvPr/>
          </p:nvSpPr>
          <p:spPr>
            <a:xfrm rot="0">
              <a:off x="1577693" y="672120"/>
              <a:ext cx="819640" cy="39911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564"/>
                </a:lnSpc>
              </a:pPr>
              <a:r>
                <a:rPr lang="en-US" sz="1831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O</a:t>
              </a:r>
            </a:p>
          </p:txBody>
        </p:sp>
        <p:sp>
          <p:nvSpPr>
            <p:cNvPr name="TextBox 77" id="77"/>
            <p:cNvSpPr txBox="true"/>
            <p:nvPr/>
          </p:nvSpPr>
          <p:spPr>
            <a:xfrm rot="-2870603">
              <a:off x="954269" y="357695"/>
              <a:ext cx="1341391" cy="654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6"/>
                </a:lnSpc>
              </a:pPr>
              <a:r>
                <a:rPr lang="en-US" sz="299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TextBox 78" id="78"/>
            <p:cNvSpPr txBox="true"/>
            <p:nvPr/>
          </p:nvSpPr>
          <p:spPr>
            <a:xfrm rot="2244259">
              <a:off x="1649443" y="322484"/>
              <a:ext cx="1341391" cy="65403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4196"/>
                </a:lnSpc>
              </a:pPr>
              <a:r>
                <a:rPr lang="en-US" sz="2997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..</a:t>
              </a:r>
            </a:p>
          </p:txBody>
        </p:sp>
        <p:sp>
          <p:nvSpPr>
            <p:cNvPr name="AutoShape 79" id="79"/>
            <p:cNvSpPr/>
            <p:nvPr/>
          </p:nvSpPr>
          <p:spPr>
            <a:xfrm flipH="true" flipV="true">
              <a:off x="884895" y="1589460"/>
              <a:ext cx="269840" cy="185760"/>
            </a:xfrm>
            <a:prstGeom prst="line">
              <a:avLst/>
            </a:prstGeom>
            <a:ln cap="flat" w="40100">
              <a:solidFill>
                <a:srgbClr val="000000"/>
              </a:solidFill>
              <a:prstDash val="solid"/>
              <a:headEnd type="none" len="sm" w="sm"/>
              <a:tailEnd type="none" len="sm" w="sm"/>
            </a:ln>
          </p:spPr>
        </p:sp>
        <p:sp>
          <p:nvSpPr>
            <p:cNvPr name="TextBox 80" id="80"/>
            <p:cNvSpPr txBox="true"/>
            <p:nvPr/>
          </p:nvSpPr>
          <p:spPr>
            <a:xfrm rot="0">
              <a:off x="222935" y="1236995"/>
              <a:ext cx="716162" cy="356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4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H₃C</a:t>
              </a:r>
            </a:p>
          </p:txBody>
        </p:sp>
        <p:sp>
          <p:nvSpPr>
            <p:cNvPr name="TextBox 81" id="81"/>
            <p:cNvSpPr txBox="true"/>
            <p:nvPr/>
          </p:nvSpPr>
          <p:spPr>
            <a:xfrm rot="0">
              <a:off x="1629432" y="3399731"/>
              <a:ext cx="716162" cy="35665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ctr">
                <a:lnSpc>
                  <a:spcPts val="2204"/>
                </a:lnSpc>
              </a:pPr>
              <a:r>
                <a:rPr lang="en-US" sz="1574" b="true">
                  <a:solidFill>
                    <a:srgbClr val="7A6200"/>
                  </a:solidFill>
                  <a:latin typeface="Canva Sans Bold"/>
                  <a:ea typeface="Canva Sans Bold"/>
                  <a:cs typeface="Canva Sans Bold"/>
                  <a:sym typeface="Canva Sans Bold"/>
                </a:rPr>
                <a:t>CH₃</a:t>
              </a:r>
            </a:p>
          </p:txBody>
        </p:sp>
      </p:grpSp>
      <p:sp>
        <p:nvSpPr>
          <p:cNvPr name="Freeform 82" id="82"/>
          <p:cNvSpPr/>
          <p:nvPr/>
        </p:nvSpPr>
        <p:spPr>
          <a:xfrm flipH="false" flipV="false" rot="0">
            <a:off x="9920133" y="5559425"/>
            <a:ext cx="3086705" cy="2946400"/>
          </a:xfrm>
          <a:custGeom>
            <a:avLst/>
            <a:gdLst/>
            <a:ahLst/>
            <a:cxnLst/>
            <a:rect r="r" b="b" t="t" l="l"/>
            <a:pathLst>
              <a:path h="2946400" w="3086705">
                <a:moveTo>
                  <a:pt x="0" y="0"/>
                </a:moveTo>
                <a:lnTo>
                  <a:pt x="3086705" y="0"/>
                </a:lnTo>
                <a:lnTo>
                  <a:pt x="3086705" y="2946400"/>
                </a:lnTo>
                <a:lnTo>
                  <a:pt x="0" y="29464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3" id="83"/>
          <p:cNvSpPr txBox="true"/>
          <p:nvPr/>
        </p:nvSpPr>
        <p:spPr>
          <a:xfrm rot="0">
            <a:off x="8664783" y="4345941"/>
            <a:ext cx="5521205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6 Lone pairs: 2 on each O; 1 on each N; none on C and H</a:t>
            </a:r>
          </a:p>
        </p:txBody>
      </p:sp>
      <p:sp>
        <p:nvSpPr>
          <p:cNvPr name="TextBox 84" id="84"/>
          <p:cNvSpPr txBox="true"/>
          <p:nvPr/>
        </p:nvSpPr>
        <p:spPr>
          <a:xfrm rot="0">
            <a:off x="6242685" y="359870"/>
            <a:ext cx="2754630" cy="79501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580"/>
              </a:lnSpc>
            </a:pPr>
            <a:r>
              <a:rPr lang="en-US" sz="4700">
                <a:solidFill>
                  <a:srgbClr val="7A6200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Caffeine </a:t>
            </a:r>
          </a:p>
        </p:txBody>
      </p:sp>
      <p:sp>
        <p:nvSpPr>
          <p:cNvPr name="TextBox 85" id="85"/>
          <p:cNvSpPr txBox="true"/>
          <p:nvPr/>
        </p:nvSpPr>
        <p:spPr>
          <a:xfrm rot="0">
            <a:off x="2500678" y="1582383"/>
            <a:ext cx="2919294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MOLECULAR FORMULA</a:t>
            </a:r>
          </a:p>
        </p:txBody>
      </p:sp>
      <p:sp>
        <p:nvSpPr>
          <p:cNvPr name="TextBox 86" id="86"/>
          <p:cNvSpPr txBox="true"/>
          <p:nvPr/>
        </p:nvSpPr>
        <p:spPr>
          <a:xfrm rot="0">
            <a:off x="2247789" y="5080000"/>
            <a:ext cx="3425071" cy="701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CONDENSED STRUCTURAL </a:t>
            </a:r>
          </a:p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FORMULA</a:t>
            </a:r>
          </a:p>
        </p:txBody>
      </p:sp>
      <p:sp>
        <p:nvSpPr>
          <p:cNvPr name="TextBox 87" id="87"/>
          <p:cNvSpPr txBox="true"/>
          <p:nvPr/>
        </p:nvSpPr>
        <p:spPr>
          <a:xfrm rot="0">
            <a:off x="9940855" y="5105400"/>
            <a:ext cx="2835712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BOND-LINE FORMULA </a:t>
            </a:r>
          </a:p>
        </p:txBody>
      </p:sp>
      <p:sp>
        <p:nvSpPr>
          <p:cNvPr name="TextBox 88" id="88"/>
          <p:cNvSpPr txBox="true"/>
          <p:nvPr/>
        </p:nvSpPr>
        <p:spPr>
          <a:xfrm rot="0">
            <a:off x="1588328" y="2766536"/>
            <a:ext cx="4743994" cy="1005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8120"/>
              </a:lnSpc>
            </a:pPr>
            <a:r>
              <a:rPr lang="en-US" sz="58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C₈H₁₀N₄O₂</a:t>
            </a:r>
          </a:p>
        </p:txBody>
      </p:sp>
      <p:sp>
        <p:nvSpPr>
          <p:cNvPr name="TextBox 89" id="89"/>
          <p:cNvSpPr txBox="true"/>
          <p:nvPr/>
        </p:nvSpPr>
        <p:spPr>
          <a:xfrm rot="0">
            <a:off x="885825" y="6331697"/>
            <a:ext cx="6176307" cy="93662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7700"/>
              </a:lnSpc>
            </a:pPr>
            <a:r>
              <a:rPr lang="en-US" sz="55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C₅HN₄O₂(CH₃)₃</a:t>
            </a:r>
          </a:p>
        </p:txBody>
      </p:sp>
      <p:sp>
        <p:nvSpPr>
          <p:cNvPr name="TextBox 90" id="90"/>
          <p:cNvSpPr txBox="true"/>
          <p:nvPr/>
        </p:nvSpPr>
        <p:spPr>
          <a:xfrm rot="0">
            <a:off x="0" y="9018928"/>
            <a:ext cx="3189888" cy="3492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800"/>
              </a:lnSpc>
            </a:pPr>
            <a:r>
              <a:rPr lang="en-US" sz="2000" b="true">
                <a:solidFill>
                  <a:srgbClr val="7A6200"/>
                </a:solidFill>
                <a:latin typeface="Canva Sans Bold"/>
                <a:ea typeface="Canva Sans Bold"/>
                <a:cs typeface="Canva Sans Bold"/>
                <a:sym typeface="Canva Sans Bold"/>
              </a:rPr>
              <a:t>VERIFICATION STRIP</a:t>
            </a:r>
          </a:p>
        </p:txBody>
      </p:sp>
      <p:sp>
        <p:nvSpPr>
          <p:cNvPr name="TextBox 91" id="91"/>
          <p:cNvSpPr txBox="true"/>
          <p:nvPr/>
        </p:nvSpPr>
        <p:spPr>
          <a:xfrm rot="0">
            <a:off x="3867039" y="9075443"/>
            <a:ext cx="1948696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Atom count verified</a:t>
            </a:r>
          </a:p>
        </p:txBody>
      </p:sp>
      <p:sp>
        <p:nvSpPr>
          <p:cNvPr name="TextBox 92" id="92"/>
          <p:cNvSpPr txBox="true"/>
          <p:nvPr/>
        </p:nvSpPr>
        <p:spPr>
          <a:xfrm rot="0">
            <a:off x="6795273" y="9070998"/>
            <a:ext cx="1636514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Valence checked</a:t>
            </a:r>
          </a:p>
        </p:txBody>
      </p:sp>
      <p:sp>
        <p:nvSpPr>
          <p:cNvPr name="TextBox 93" id="93"/>
          <p:cNvSpPr txBox="true"/>
          <p:nvPr/>
        </p:nvSpPr>
        <p:spPr>
          <a:xfrm rot="0">
            <a:off x="9430374" y="9075443"/>
            <a:ext cx="1975961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Bond order checked</a:t>
            </a:r>
          </a:p>
        </p:txBody>
      </p:sp>
      <p:sp>
        <p:nvSpPr>
          <p:cNvPr name="TextBox 94" id="94"/>
          <p:cNvSpPr txBox="true"/>
          <p:nvPr/>
        </p:nvSpPr>
        <p:spPr>
          <a:xfrm rot="0">
            <a:off x="12142275" y="9070998"/>
            <a:ext cx="2880598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Same connectivity confirmed</a:t>
            </a:r>
          </a:p>
        </p:txBody>
      </p:sp>
      <p:sp>
        <p:nvSpPr>
          <p:cNvPr name="TextBox 95" id="95"/>
          <p:cNvSpPr txBox="true"/>
          <p:nvPr/>
        </p:nvSpPr>
        <p:spPr>
          <a:xfrm rot="0">
            <a:off x="2061040" y="7818343"/>
            <a:ext cx="3798570" cy="2641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240"/>
              </a:lnSpc>
            </a:pPr>
            <a:r>
              <a:rPr lang="en-US" sz="1600">
                <a:solidFill>
                  <a:srgbClr val="7A6200"/>
                </a:solidFill>
                <a:latin typeface="Canva Sans"/>
                <a:ea typeface="Canva Sans"/>
                <a:cs typeface="Canva Sans"/>
                <a:sym typeface="Canva Sans"/>
              </a:rPr>
              <a:t>is also written as CH₃C(=O)NH-C₆H₄-OH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DAHYROzH_mE</dc:identifier>
  <dcterms:modified xsi:type="dcterms:W3CDTF">2011-08-01T06:04:30Z</dcterms:modified>
  <cp:revision>1</cp:revision>
  <dc:title>Copy of 1</dc:title>
</cp:coreProperties>
</file>